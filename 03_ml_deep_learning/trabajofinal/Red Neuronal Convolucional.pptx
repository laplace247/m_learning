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obby Jones" panose="020B0604020202020204" charset="0"/>
      <p:regular r:id="rId12"/>
    </p:embeddedFont>
    <p:embeddedFont>
      <p:font typeface="Bobby Jones Condense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BM Plex Mono Bold" panose="020B0604020202020204" charset="0"/>
      <p:regular r:id="rId18"/>
    </p:embeddedFont>
    <p:embeddedFont>
      <p:font typeface="Libre Franklin" panose="020B0604020202020204" charset="0"/>
      <p:regular r:id="rId19"/>
    </p:embeddedFont>
    <p:embeddedFont>
      <p:font typeface="Libre Franklin Bold" panose="020B0604020202020204" charset="0"/>
      <p:regular r:id="rId20"/>
    </p:embeddedFont>
    <p:embeddedFont>
      <p:font typeface="Noteworthy" panose="02000400000000000000" pitchFamily="2" charset="0"/>
      <p:bold r:id="rId21"/>
    </p:embeddedFont>
    <p:embeddedFont>
      <p:font typeface="Open Sans" panose="020B0606030504020204" pitchFamily="34" charset="0"/>
      <p:regular r:id="rId22"/>
    </p:embeddedFont>
    <p:embeddedFont>
      <p:font typeface="Poppins" panose="020B0604020202020204" charset="0"/>
      <p:regular r:id="rId23"/>
    </p:embeddedFont>
    <p:embeddedFont>
      <p:font typeface="Raleway" panose="020B0604020202020204" charset="0"/>
      <p:regular r:id="rId24"/>
    </p:embeddedFont>
    <p:embeddedFont>
      <p:font typeface="Raleway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33372"/>
            <a:ext cx="16433210" cy="7094131"/>
            <a:chOff x="0" y="0"/>
            <a:chExt cx="21910946" cy="94588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b="18408"/>
            <a:stretch>
              <a:fillRect/>
            </a:stretch>
          </p:blipFill>
          <p:spPr>
            <a:xfrm>
              <a:off x="0" y="0"/>
              <a:ext cx="21910946" cy="945884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4186385" y="-282786"/>
            <a:ext cx="14391979" cy="575097"/>
            <a:chOff x="0" y="0"/>
            <a:chExt cx="5250233" cy="209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50233" cy="209797"/>
            </a:xfrm>
            <a:custGeom>
              <a:avLst/>
              <a:gdLst/>
              <a:ahLst/>
              <a:cxnLst/>
              <a:rect l="l" t="t" r="r" b="b"/>
              <a:pathLst>
                <a:path w="5250233" h="209797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290364" y="-282786"/>
            <a:ext cx="4181180" cy="575097"/>
            <a:chOff x="0" y="0"/>
            <a:chExt cx="1525306" cy="2097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5306" cy="209797"/>
            </a:xfrm>
            <a:custGeom>
              <a:avLst/>
              <a:gdLst/>
              <a:ahLst/>
              <a:cxnLst/>
              <a:rect l="l" t="t" r="r" b="b"/>
              <a:pathLst>
                <a:path w="1525306" h="209797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50233" cy="209797"/>
            </a:xfrm>
            <a:custGeom>
              <a:avLst/>
              <a:gdLst/>
              <a:ahLst/>
              <a:cxnLst/>
              <a:rect l="l" t="t" r="r" b="b"/>
              <a:pathLst>
                <a:path w="5250233" h="209797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5306" cy="209797"/>
            </a:xfrm>
            <a:custGeom>
              <a:avLst/>
              <a:gdLst/>
              <a:ahLst/>
              <a:cxnLst/>
              <a:rect l="l" t="t" r="r" b="b"/>
              <a:pathLst>
                <a:path w="1525306" h="209797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id="12" name="AutoShape 12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w="9525" cap="flat">
            <a:solidFill>
              <a:srgbClr val="2083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800225" y="7841263"/>
            <a:ext cx="15398617" cy="72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5300" spc="530">
                <a:solidFill>
                  <a:srgbClr val="2083C4"/>
                </a:solidFill>
                <a:latin typeface="Bobby Jones"/>
                <a:ea typeface="Bobby Jones"/>
                <a:cs typeface="Bobby Jones"/>
                <a:sym typeface="Bobby Jones"/>
              </a:rPr>
              <a:t>REDES NEURONALES CONVOLUCIONALES (CNN)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7251" y="8986837"/>
            <a:ext cx="765349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spc="139">
                <a:solidFill>
                  <a:srgbClr val="1D1127"/>
                </a:solidFill>
                <a:latin typeface="Raleway Bold"/>
                <a:ea typeface="Raleway Bold"/>
                <a:cs typeface="Raleway Bold"/>
                <a:sym typeface="Raleway Bold"/>
              </a:rPr>
              <a:t>Grupo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42308"/>
            <a:ext cx="1444692" cy="1444692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id="4" name="Group 4"/>
          <p:cNvGrpSpPr/>
          <p:nvPr/>
        </p:nvGrpSpPr>
        <p:grpSpPr>
          <a:xfrm rot="-2381545">
            <a:off x="-3615542" y="1051494"/>
            <a:ext cx="8944929" cy="13970157"/>
            <a:chOff x="0" y="0"/>
            <a:chExt cx="1913890" cy="29891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2989106"/>
            </a:xfrm>
            <a:custGeom>
              <a:avLst/>
              <a:gdLst/>
              <a:ahLst/>
              <a:cxnLst/>
              <a:rect l="l" t="t" r="r" b="b"/>
              <a:pathLst>
                <a:path w="1913890" h="2989106">
                  <a:moveTo>
                    <a:pt x="0" y="0"/>
                  </a:moveTo>
                  <a:lnTo>
                    <a:pt x="1913890" y="0"/>
                  </a:lnTo>
                  <a:lnTo>
                    <a:pt x="1913890" y="2989106"/>
                  </a:lnTo>
                  <a:lnTo>
                    <a:pt x="0" y="2989106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id="6" name="Group 6"/>
          <p:cNvGrpSpPr/>
          <p:nvPr/>
        </p:nvGrpSpPr>
        <p:grpSpPr>
          <a:xfrm rot="-2381545">
            <a:off x="-1415448" y="3781862"/>
            <a:ext cx="4705565" cy="9440247"/>
            <a:chOff x="0" y="0"/>
            <a:chExt cx="1230048" cy="24677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048" cy="2467708"/>
            </a:xfrm>
            <a:custGeom>
              <a:avLst/>
              <a:gdLst/>
              <a:ahLst/>
              <a:cxnLst/>
              <a:rect l="l" t="t" r="r" b="b"/>
              <a:pathLst>
                <a:path w="1230048" h="2467708">
                  <a:moveTo>
                    <a:pt x="0" y="0"/>
                  </a:moveTo>
                  <a:lnTo>
                    <a:pt x="1230048" y="0"/>
                  </a:lnTo>
                  <a:lnTo>
                    <a:pt x="1230048" y="2467708"/>
                  </a:lnTo>
                  <a:lnTo>
                    <a:pt x="0" y="2467708"/>
                  </a:lnTo>
                  <a:close/>
                </a:path>
              </a:pathLst>
            </a:custGeom>
            <a:solidFill>
              <a:srgbClr val="F6F6F6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329124" y="2885669"/>
            <a:ext cx="591820" cy="59182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818074" y="3485011"/>
            <a:ext cx="591820" cy="59182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307024" y="4084353"/>
            <a:ext cx="591820" cy="59182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799588" y="4683695"/>
            <a:ext cx="591820" cy="591820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303974" y="5283037"/>
            <a:ext cx="591820" cy="591820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799274" y="5882379"/>
            <a:ext cx="591820" cy="59182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382564" y="6534427"/>
            <a:ext cx="591820" cy="59182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800446" y="7081064"/>
            <a:ext cx="591820" cy="591820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4636115" y="6587132"/>
            <a:ext cx="5246370" cy="5246370"/>
            <a:chOff x="0" y="0"/>
            <a:chExt cx="1913890" cy="19138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0215923" y="2263794"/>
            <a:ext cx="7043377" cy="6578514"/>
            <a:chOff x="0" y="0"/>
            <a:chExt cx="6350000" cy="5930900"/>
          </a:xfrm>
        </p:grpSpPr>
        <p:sp>
          <p:nvSpPr>
            <p:cNvPr id="27" name="Freeform 27"/>
            <p:cNvSpPr/>
            <p:nvPr/>
          </p:nvSpPr>
          <p:spPr>
            <a:xfrm>
              <a:off x="1270" y="5515610"/>
              <a:ext cx="6348730" cy="415290"/>
            </a:xfrm>
            <a:custGeom>
              <a:avLst/>
              <a:gdLst/>
              <a:ahLst/>
              <a:cxnLst/>
              <a:rect l="l" t="t" r="r" b="b"/>
              <a:pathLst>
                <a:path w="6348730" h="415290">
                  <a:moveTo>
                    <a:pt x="5933440" y="0"/>
                  </a:moveTo>
                  <a:lnTo>
                    <a:pt x="0" y="0"/>
                  </a:lnTo>
                  <a:lnTo>
                    <a:pt x="414020" y="415290"/>
                  </a:lnTo>
                  <a:lnTo>
                    <a:pt x="6348730" y="415290"/>
                  </a:lnTo>
                  <a:close/>
                </a:path>
              </a:pathLst>
            </a:custGeom>
            <a:solidFill>
              <a:srgbClr val="1D1127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5934710" y="1270"/>
              <a:ext cx="415290" cy="5929630"/>
            </a:xfrm>
            <a:custGeom>
              <a:avLst/>
              <a:gdLst/>
              <a:ahLst/>
              <a:cxnLst/>
              <a:rect l="l" t="t" r="r" b="b"/>
              <a:pathLst>
                <a:path w="415290" h="5929630">
                  <a:moveTo>
                    <a:pt x="414020" y="414020"/>
                  </a:moveTo>
                  <a:lnTo>
                    <a:pt x="0" y="0"/>
                  </a:lnTo>
                  <a:lnTo>
                    <a:pt x="0" y="5514340"/>
                  </a:lnTo>
                  <a:lnTo>
                    <a:pt x="415290" y="5929630"/>
                  </a:lnTo>
                  <a:lnTo>
                    <a:pt x="415290" y="414020"/>
                  </a:lnTo>
                  <a:close/>
                </a:path>
              </a:pathLst>
            </a:custGeom>
            <a:solidFill>
              <a:srgbClr val="1D1127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5934710" cy="5515610"/>
            </a:xfrm>
            <a:custGeom>
              <a:avLst/>
              <a:gdLst/>
              <a:ahLst/>
              <a:cxnLst/>
              <a:rect l="l" t="t" r="r" b="b"/>
              <a:pathLst>
                <a:path w="5934710" h="5515610">
                  <a:moveTo>
                    <a:pt x="0" y="0"/>
                  </a:moveTo>
                  <a:lnTo>
                    <a:pt x="0" y="5515610"/>
                  </a:lnTo>
                  <a:lnTo>
                    <a:pt x="5934710" y="5515610"/>
                  </a:lnTo>
                  <a:lnTo>
                    <a:pt x="5934710" y="0"/>
                  </a:lnTo>
                  <a:lnTo>
                    <a:pt x="415290" y="0"/>
                  </a:lnTo>
                  <a:close/>
                </a:path>
              </a:pathLst>
            </a:custGeom>
            <a:blipFill>
              <a:blip r:embed="rId2"/>
              <a:stretch>
                <a:fillRect l="-37516" t="-27638" r="-33947" b="-4503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444692" y="1235142"/>
            <a:ext cx="15398617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6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TABLA DE CONTENIDO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05100" y="2986349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¿QUE ES?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87053" y="3585692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FUNCIONAMIENTO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29508" y="4185034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APLICACIONES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91000" y="4784376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VENTAJAS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82564" y="5383718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DEMOSTRACION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30800" y="5983060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02300" y="6582402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EQUIPO 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9975" y="7181744"/>
            <a:ext cx="471449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49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DESPEDIDA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91024" y="2962504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2.-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79974" y="3561846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3.-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68924" y="4161188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4.-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61488" y="4760530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5.-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65874" y="5359872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6.-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61174" y="5959214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7-.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62346" y="7157899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9.-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47" name="Group 47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82564" y="6540875"/>
            <a:ext cx="591820" cy="591820"/>
            <a:chOff x="0" y="0"/>
            <a:chExt cx="6350000" cy="6350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</p:grpSp>
      <p:sp>
        <p:nvSpPr>
          <p:cNvPr id="52" name="TextBox 52"/>
          <p:cNvSpPr txBox="1"/>
          <p:nvPr/>
        </p:nvSpPr>
        <p:spPr>
          <a:xfrm>
            <a:off x="5344464" y="6617710"/>
            <a:ext cx="6680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8.-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31065" y="-644703"/>
            <a:ext cx="7346716" cy="11576407"/>
            <a:chOff x="0" y="0"/>
            <a:chExt cx="2680102" cy="42231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0102" cy="4223105"/>
            </a:xfrm>
            <a:custGeom>
              <a:avLst/>
              <a:gdLst/>
              <a:ahLst/>
              <a:cxnLst/>
              <a:rect l="l" t="t" r="r" b="b"/>
              <a:pathLst>
                <a:path w="2680102" h="4223105">
                  <a:moveTo>
                    <a:pt x="0" y="0"/>
                  </a:moveTo>
                  <a:lnTo>
                    <a:pt x="2680102" y="0"/>
                  </a:lnTo>
                  <a:lnTo>
                    <a:pt x="2680102" y="4223105"/>
                  </a:lnTo>
                  <a:lnTo>
                    <a:pt x="0" y="4223105"/>
                  </a:ln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id="4" name="Group 4"/>
          <p:cNvGrpSpPr/>
          <p:nvPr/>
        </p:nvGrpSpPr>
        <p:grpSpPr>
          <a:xfrm rot="-1986299">
            <a:off x="10255386" y="2188876"/>
            <a:ext cx="5903223" cy="5903223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BF7762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346406" y="2194901"/>
            <a:ext cx="5812203" cy="5897199"/>
            <a:chOff x="0" y="0"/>
            <a:chExt cx="2952750" cy="2995930"/>
          </a:xfrm>
        </p:grpSpPr>
        <p:sp>
          <p:nvSpPr>
            <p:cNvPr id="7" name="Freeform 7"/>
            <p:cNvSpPr/>
            <p:nvPr/>
          </p:nvSpPr>
          <p:spPr>
            <a:xfrm>
              <a:off x="-2540" y="-5080"/>
              <a:ext cx="2962910" cy="3004820"/>
            </a:xfrm>
            <a:custGeom>
              <a:avLst/>
              <a:gdLst/>
              <a:ahLst/>
              <a:cxnLst/>
              <a:rect l="l" t="t" r="r" b="b"/>
              <a:pathLst>
                <a:path w="2962910" h="3004820">
                  <a:moveTo>
                    <a:pt x="2936240" y="16510"/>
                  </a:moveTo>
                  <a:lnTo>
                    <a:pt x="2926080" y="16510"/>
                  </a:lnTo>
                  <a:cubicBezTo>
                    <a:pt x="2684780" y="16510"/>
                    <a:pt x="2443480" y="19050"/>
                    <a:pt x="2203450" y="21590"/>
                  </a:cubicBezTo>
                  <a:cubicBezTo>
                    <a:pt x="1775460" y="26670"/>
                    <a:pt x="1346200" y="34290"/>
                    <a:pt x="918210" y="35560"/>
                  </a:cubicBezTo>
                  <a:cubicBezTo>
                    <a:pt x="751840" y="35560"/>
                    <a:pt x="585470" y="26670"/>
                    <a:pt x="419100" y="16510"/>
                  </a:cubicBezTo>
                  <a:cubicBezTo>
                    <a:pt x="281940" y="7620"/>
                    <a:pt x="142240" y="0"/>
                    <a:pt x="5080" y="10160"/>
                  </a:cubicBezTo>
                  <a:cubicBezTo>
                    <a:pt x="6350" y="210820"/>
                    <a:pt x="7620" y="411480"/>
                    <a:pt x="10160" y="610870"/>
                  </a:cubicBezTo>
                  <a:cubicBezTo>
                    <a:pt x="13970" y="1056640"/>
                    <a:pt x="20320" y="1502410"/>
                    <a:pt x="16510" y="1948180"/>
                  </a:cubicBezTo>
                  <a:cubicBezTo>
                    <a:pt x="15240" y="2169160"/>
                    <a:pt x="6350" y="2390140"/>
                    <a:pt x="2540" y="2611120"/>
                  </a:cubicBezTo>
                  <a:cubicBezTo>
                    <a:pt x="0" y="2730500"/>
                    <a:pt x="10160" y="2849880"/>
                    <a:pt x="17780" y="2967990"/>
                  </a:cubicBezTo>
                  <a:cubicBezTo>
                    <a:pt x="77470" y="2962910"/>
                    <a:pt x="138430" y="2966720"/>
                    <a:pt x="196850" y="2971800"/>
                  </a:cubicBezTo>
                  <a:cubicBezTo>
                    <a:pt x="287020" y="2979420"/>
                    <a:pt x="375920" y="2988310"/>
                    <a:pt x="466090" y="2992120"/>
                  </a:cubicBezTo>
                  <a:cubicBezTo>
                    <a:pt x="882650" y="3004820"/>
                    <a:pt x="1300480" y="2997200"/>
                    <a:pt x="1717040" y="2987040"/>
                  </a:cubicBezTo>
                  <a:cubicBezTo>
                    <a:pt x="2127250" y="2975610"/>
                    <a:pt x="2538730" y="2962910"/>
                    <a:pt x="2950210" y="2961640"/>
                  </a:cubicBezTo>
                  <a:cubicBezTo>
                    <a:pt x="2942590" y="2794000"/>
                    <a:pt x="2933700" y="2626360"/>
                    <a:pt x="2928620" y="2457450"/>
                  </a:cubicBezTo>
                  <a:cubicBezTo>
                    <a:pt x="2915920" y="2034540"/>
                    <a:pt x="2933700" y="1612900"/>
                    <a:pt x="2945130" y="1189990"/>
                  </a:cubicBezTo>
                  <a:cubicBezTo>
                    <a:pt x="2956560" y="800100"/>
                    <a:pt x="2962910" y="407670"/>
                    <a:pt x="2936240" y="16510"/>
                  </a:cubicBezTo>
                  <a:close/>
                </a:path>
              </a:pathLst>
            </a:custGeom>
            <a:blipFill>
              <a:blip r:embed="rId2"/>
              <a:stretch>
                <a:fillRect l="-26170" r="-261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8680390"/>
            <a:ext cx="7156853" cy="2251314"/>
            <a:chOff x="0" y="0"/>
            <a:chExt cx="2610839" cy="8212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10839" cy="821285"/>
            </a:xfrm>
            <a:custGeom>
              <a:avLst/>
              <a:gdLst/>
              <a:ahLst/>
              <a:cxnLst/>
              <a:rect l="l" t="t" r="r" b="b"/>
              <a:pathLst>
                <a:path w="2610839" h="821285">
                  <a:moveTo>
                    <a:pt x="0" y="0"/>
                  </a:moveTo>
                  <a:lnTo>
                    <a:pt x="2610839" y="0"/>
                  </a:lnTo>
                  <a:lnTo>
                    <a:pt x="2610839" y="821285"/>
                  </a:lnTo>
                  <a:lnTo>
                    <a:pt x="0" y="821285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11" name="Group 11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56923" y="1449231"/>
            <a:ext cx="7156853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spc="6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¿QUE ES?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9476" y="3001806"/>
            <a:ext cx="8115300" cy="479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15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Una Red Neuronal Convolucional (CNN, por sus siglas en inglés: Convolutional Neural Network) es un tipo especial de red neuronal profunda diseñada para procesar datos que tienen una estructura de tipo rejilla, como imágenes (2D) o señales (1D, como audio).</a:t>
            </a:r>
          </a:p>
          <a:p>
            <a:pPr algn="l">
              <a:lnSpc>
                <a:spcPts val="3220"/>
              </a:lnSpc>
            </a:pPr>
            <a:r>
              <a:rPr lang="en-US" sz="2300" spc="115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Su principal característica es el uso de capas convolucionales, que aplican filtros (kernels) para detectar automáticamente características locales, como bordes, texturas o formas, sin necesidad de extraerlas manualmente.</a:t>
            </a:r>
          </a:p>
          <a:p>
            <a:pPr algn="l">
              <a:lnSpc>
                <a:spcPts val="3220"/>
              </a:lnSpc>
            </a:pPr>
            <a:endParaRPr lang="en-US" sz="2300" spc="115">
              <a:solidFill>
                <a:srgbClr val="1D11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86456" y="9872237"/>
            <a:ext cx="9553175" cy="1241847"/>
            <a:chOff x="0" y="0"/>
            <a:chExt cx="3485024" cy="453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5024" cy="453029"/>
            </a:xfrm>
            <a:custGeom>
              <a:avLst/>
              <a:gdLst/>
              <a:ahLst/>
              <a:cxnLst/>
              <a:rect l="l" t="t" r="r" b="b"/>
              <a:pathLst>
                <a:path w="3485024" h="453029">
                  <a:moveTo>
                    <a:pt x="0" y="0"/>
                  </a:moveTo>
                  <a:lnTo>
                    <a:pt x="3485024" y="0"/>
                  </a:lnTo>
                  <a:lnTo>
                    <a:pt x="3485024" y="453029"/>
                  </a:lnTo>
                  <a:lnTo>
                    <a:pt x="0" y="453029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33948" y="-839272"/>
            <a:ext cx="8586759" cy="1241847"/>
            <a:chOff x="0" y="0"/>
            <a:chExt cx="3132473" cy="4530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2473" cy="453029"/>
            </a:xfrm>
            <a:custGeom>
              <a:avLst/>
              <a:gdLst/>
              <a:ahLst/>
              <a:cxnLst/>
              <a:rect l="l" t="t" r="r" b="b"/>
              <a:pathLst>
                <a:path w="3132473" h="453029">
                  <a:moveTo>
                    <a:pt x="0" y="0"/>
                  </a:moveTo>
                  <a:lnTo>
                    <a:pt x="3132473" y="0"/>
                  </a:lnTo>
                  <a:lnTo>
                    <a:pt x="3132473" y="453029"/>
                  </a:lnTo>
                  <a:lnTo>
                    <a:pt x="0" y="453029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-333948" y="1233804"/>
            <a:ext cx="6808119" cy="7459094"/>
          </a:xfrm>
          <a:custGeom>
            <a:avLst/>
            <a:gdLst/>
            <a:ahLst/>
            <a:cxnLst/>
            <a:rect l="l" t="t" r="r" b="b"/>
            <a:pathLst>
              <a:path w="6808119" h="7459094">
                <a:moveTo>
                  <a:pt x="0" y="0"/>
                </a:moveTo>
                <a:lnTo>
                  <a:pt x="6808118" y="0"/>
                </a:lnTo>
                <a:lnTo>
                  <a:pt x="6808118" y="7459094"/>
                </a:lnTo>
                <a:lnTo>
                  <a:pt x="0" y="7459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86092" y="8329082"/>
            <a:ext cx="1540244" cy="1149407"/>
          </a:xfrm>
          <a:custGeom>
            <a:avLst/>
            <a:gdLst/>
            <a:ahLst/>
            <a:cxnLst/>
            <a:rect l="l" t="t" r="r" b="b"/>
            <a:pathLst>
              <a:path w="1540244" h="1149407">
                <a:moveTo>
                  <a:pt x="0" y="0"/>
                </a:moveTo>
                <a:lnTo>
                  <a:pt x="1540245" y="0"/>
                </a:lnTo>
                <a:lnTo>
                  <a:pt x="1540245" y="1149407"/>
                </a:lnTo>
                <a:lnTo>
                  <a:pt x="0" y="1149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52810" y="225569"/>
            <a:ext cx="880340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00"/>
              </a:lnSpc>
            </a:pPr>
            <a:r>
              <a:rPr lang="en-US" sz="6000" spc="6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10" name="Group 10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267425" y="2071687"/>
            <a:ext cx="10774175" cy="613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1"/>
              </a:lnSpc>
            </a:pPr>
            <a:endParaRPr/>
          </a:p>
          <a:p>
            <a:pPr algn="l">
              <a:lnSpc>
                <a:spcPts val="1951"/>
              </a:lnSpc>
            </a:pPr>
            <a:endParaRPr/>
          </a:p>
          <a:p>
            <a:pPr algn="l">
              <a:lnSpc>
                <a:spcPts val="2671"/>
              </a:lnSpc>
            </a:pPr>
            <a:r>
              <a:rPr lang="en-US" sz="2226" spc="222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Las CNN funcionan imitando la forma en que el cerebro humano reconoce patrones visuales. Primero, una imagen pasa por capas convolucionales que detectan características simples como bordes, colores o texturas. Luego, las capas más profundas combinan esas características para identificar formas más complejas, como objetos o rostros.</a:t>
            </a:r>
          </a:p>
          <a:p>
            <a:pPr algn="l">
              <a:lnSpc>
                <a:spcPts val="2671"/>
              </a:lnSpc>
            </a:pPr>
            <a:endParaRPr lang="en-US" sz="2226" spc="222">
              <a:solidFill>
                <a:srgbClr val="1D112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671"/>
              </a:lnSpc>
            </a:pPr>
            <a:r>
              <a:rPr lang="en-US" sz="2226" spc="222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Después, se aplican capas de agrupamiento o pooling que reducen la cantidad de información, conservando solo lo esencial para mejorar la velocidad y precisión. Finalmente, la información procesada llega a capas totalmente conectadas, donde la red realiza la predicción final, por ejemplo, determinar si en la imagen aparece un gato o un perro.</a:t>
            </a:r>
          </a:p>
          <a:p>
            <a:pPr algn="l">
              <a:lnSpc>
                <a:spcPts val="2671"/>
              </a:lnSpc>
            </a:pPr>
            <a:endParaRPr lang="en-US" sz="2226" spc="222">
              <a:solidFill>
                <a:srgbClr val="1D112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671"/>
              </a:lnSpc>
              <a:spcBef>
                <a:spcPct val="0"/>
              </a:spcBef>
            </a:pPr>
            <a:r>
              <a:rPr lang="en-US" sz="2226" spc="222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En conjunto, una CNN aprende automáticamente a extraer y combinar patrones visuales, logrando reconocer imágenes con gran exactitud.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20744" y="2467726"/>
            <a:ext cx="6865827" cy="4858052"/>
            <a:chOff x="0" y="0"/>
            <a:chExt cx="1271546" cy="899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1546" cy="899680"/>
            </a:xfrm>
            <a:custGeom>
              <a:avLst/>
              <a:gdLst/>
              <a:ahLst/>
              <a:cxnLst/>
              <a:rect l="l" t="t" r="r" b="b"/>
              <a:pathLst>
                <a:path w="1271546" h="899680">
                  <a:moveTo>
                    <a:pt x="1271546" y="0"/>
                  </a:moveTo>
                  <a:lnTo>
                    <a:pt x="1271546" y="899680"/>
                  </a:lnTo>
                  <a:lnTo>
                    <a:pt x="0" y="899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2D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271546" cy="909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44692" y="1206567"/>
            <a:ext cx="15398617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6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APLICACIONES</a:t>
            </a:r>
          </a:p>
        </p:txBody>
      </p:sp>
      <p:sp>
        <p:nvSpPr>
          <p:cNvPr id="6" name="AutoShape 6"/>
          <p:cNvSpPr/>
          <p:nvPr/>
        </p:nvSpPr>
        <p:spPr>
          <a:xfrm rot="-5415937">
            <a:off x="-3581053" y="4951305"/>
            <a:ext cx="10493273" cy="0"/>
          </a:xfrm>
          <a:prstGeom prst="line">
            <a:avLst/>
          </a:prstGeom>
          <a:ln w="590550" cap="flat">
            <a:solidFill>
              <a:srgbClr val="62DBD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4692" y="2704602"/>
            <a:ext cx="393138" cy="374551"/>
            <a:chOff x="0" y="0"/>
            <a:chExt cx="1772920" cy="1689100"/>
          </a:xfrm>
        </p:grpSpPr>
        <p:sp>
          <p:nvSpPr>
            <p:cNvPr id="8" name="Freeform 8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20245" y="3748349"/>
            <a:ext cx="393138" cy="374551"/>
            <a:chOff x="0" y="0"/>
            <a:chExt cx="1772920" cy="1689100"/>
          </a:xfrm>
        </p:grpSpPr>
        <p:sp>
          <p:nvSpPr>
            <p:cNvPr id="10" name="Freeform 10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444692" y="4792097"/>
            <a:ext cx="393138" cy="374551"/>
            <a:chOff x="0" y="0"/>
            <a:chExt cx="1772920" cy="1689100"/>
          </a:xfrm>
        </p:grpSpPr>
        <p:sp>
          <p:nvSpPr>
            <p:cNvPr id="12" name="Freeform 12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44692" y="5835844"/>
            <a:ext cx="393138" cy="374551"/>
            <a:chOff x="0" y="0"/>
            <a:chExt cx="1772920" cy="1689100"/>
          </a:xfrm>
        </p:grpSpPr>
        <p:sp>
          <p:nvSpPr>
            <p:cNvPr id="14" name="Freeform 14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44692" y="6879592"/>
            <a:ext cx="393138" cy="374551"/>
            <a:chOff x="0" y="0"/>
            <a:chExt cx="1772920" cy="1689100"/>
          </a:xfrm>
        </p:grpSpPr>
        <p:sp>
          <p:nvSpPr>
            <p:cNvPr id="16" name="Freeform 16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44692" y="7923339"/>
            <a:ext cx="393138" cy="374551"/>
            <a:chOff x="0" y="0"/>
            <a:chExt cx="1772920" cy="1689100"/>
          </a:xfrm>
        </p:grpSpPr>
        <p:sp>
          <p:nvSpPr>
            <p:cNvPr id="18" name="Freeform 18"/>
            <p:cNvSpPr/>
            <p:nvPr/>
          </p:nvSpPr>
          <p:spPr>
            <a:xfrm>
              <a:off x="-8890" y="-5080"/>
              <a:ext cx="1789430" cy="1701800"/>
            </a:xfrm>
            <a:custGeom>
              <a:avLst/>
              <a:gdLst/>
              <a:ahLst/>
              <a:cxnLst/>
              <a:rect l="l" t="t" r="r" b="b"/>
              <a:pathLst>
                <a:path w="1789430" h="1701800">
                  <a:moveTo>
                    <a:pt x="922020" y="21590"/>
                  </a:moveTo>
                  <a:lnTo>
                    <a:pt x="1172210" y="529590"/>
                  </a:lnTo>
                  <a:cubicBezTo>
                    <a:pt x="1176020" y="538480"/>
                    <a:pt x="1184910" y="544830"/>
                    <a:pt x="1195070" y="546100"/>
                  </a:cubicBezTo>
                  <a:lnTo>
                    <a:pt x="1755140" y="627380"/>
                  </a:lnTo>
                  <a:cubicBezTo>
                    <a:pt x="1779270" y="631190"/>
                    <a:pt x="1789430" y="661670"/>
                    <a:pt x="1771650" y="678180"/>
                  </a:cubicBezTo>
                  <a:lnTo>
                    <a:pt x="1366520" y="1073150"/>
                  </a:lnTo>
                  <a:cubicBezTo>
                    <a:pt x="1358900" y="1079500"/>
                    <a:pt x="1356360" y="1089660"/>
                    <a:pt x="1357630" y="1099820"/>
                  </a:cubicBezTo>
                  <a:lnTo>
                    <a:pt x="1452880" y="1658620"/>
                  </a:lnTo>
                  <a:cubicBezTo>
                    <a:pt x="1456690" y="1682750"/>
                    <a:pt x="1431290" y="1701800"/>
                    <a:pt x="1409700" y="1690370"/>
                  </a:cubicBezTo>
                  <a:lnTo>
                    <a:pt x="908050" y="1426210"/>
                  </a:lnTo>
                  <a:cubicBezTo>
                    <a:pt x="899160" y="1421130"/>
                    <a:pt x="889000" y="1421130"/>
                    <a:pt x="880110" y="1426210"/>
                  </a:cubicBezTo>
                  <a:lnTo>
                    <a:pt x="378460" y="1690370"/>
                  </a:lnTo>
                  <a:cubicBezTo>
                    <a:pt x="356870" y="1701800"/>
                    <a:pt x="331470" y="1682750"/>
                    <a:pt x="335280" y="1658620"/>
                  </a:cubicBezTo>
                  <a:lnTo>
                    <a:pt x="430530" y="1099820"/>
                  </a:lnTo>
                  <a:cubicBezTo>
                    <a:pt x="431800" y="1089660"/>
                    <a:pt x="429260" y="1080770"/>
                    <a:pt x="421640" y="1073150"/>
                  </a:cubicBezTo>
                  <a:lnTo>
                    <a:pt x="17780" y="678180"/>
                  </a:lnTo>
                  <a:cubicBezTo>
                    <a:pt x="0" y="660400"/>
                    <a:pt x="10160" y="631190"/>
                    <a:pt x="34290" y="627380"/>
                  </a:cubicBezTo>
                  <a:lnTo>
                    <a:pt x="594360" y="546100"/>
                  </a:lnTo>
                  <a:cubicBezTo>
                    <a:pt x="604520" y="544830"/>
                    <a:pt x="612140" y="538480"/>
                    <a:pt x="617220" y="529590"/>
                  </a:cubicBezTo>
                  <a:lnTo>
                    <a:pt x="867410" y="21590"/>
                  </a:lnTo>
                  <a:cubicBezTo>
                    <a:pt x="878840" y="0"/>
                    <a:pt x="910590" y="0"/>
                    <a:pt x="922020" y="2159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id="19" name="AutoShape 19"/>
          <p:cNvSpPr/>
          <p:nvPr/>
        </p:nvSpPr>
        <p:spPr>
          <a:xfrm flipV="1">
            <a:off x="16710383" y="2467726"/>
            <a:ext cx="0" cy="6108147"/>
          </a:xfrm>
          <a:prstGeom prst="line">
            <a:avLst/>
          </a:prstGeom>
          <a:ln w="47625" cap="flat">
            <a:solidFill>
              <a:srgbClr val="62DBD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21" name="Group 21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34244" y="2724605"/>
            <a:ext cx="5449894" cy="4480123"/>
            <a:chOff x="0" y="0"/>
            <a:chExt cx="1037911" cy="8532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37911" cy="853222"/>
            </a:xfrm>
            <a:custGeom>
              <a:avLst/>
              <a:gdLst/>
              <a:ahLst/>
              <a:cxnLst/>
              <a:rect l="l" t="t" r="r" b="b"/>
              <a:pathLst>
                <a:path w="1037911" h="853222">
                  <a:moveTo>
                    <a:pt x="518956" y="0"/>
                  </a:moveTo>
                  <a:cubicBezTo>
                    <a:pt x="232344" y="0"/>
                    <a:pt x="0" y="191000"/>
                    <a:pt x="0" y="426611"/>
                  </a:cubicBezTo>
                  <a:cubicBezTo>
                    <a:pt x="0" y="662222"/>
                    <a:pt x="232344" y="853222"/>
                    <a:pt x="518956" y="853222"/>
                  </a:cubicBezTo>
                  <a:cubicBezTo>
                    <a:pt x="805567" y="853222"/>
                    <a:pt x="1037911" y="662222"/>
                    <a:pt x="1037911" y="426611"/>
                  </a:cubicBezTo>
                  <a:cubicBezTo>
                    <a:pt x="1037911" y="191000"/>
                    <a:pt x="805567" y="0"/>
                    <a:pt x="518956" y="0"/>
                  </a:cubicBezTo>
                  <a:close/>
                </a:path>
              </a:pathLst>
            </a:custGeom>
            <a:solidFill>
              <a:srgbClr val="F1A7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97304" y="70465"/>
              <a:ext cx="843303" cy="702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9820744" y="3653205"/>
            <a:ext cx="6865827" cy="4922668"/>
          </a:xfrm>
          <a:custGeom>
            <a:avLst/>
            <a:gdLst/>
            <a:ahLst/>
            <a:cxnLst/>
            <a:rect l="l" t="t" r="r" b="b"/>
            <a:pathLst>
              <a:path w="6865827" h="4922668">
                <a:moveTo>
                  <a:pt x="0" y="0"/>
                </a:moveTo>
                <a:lnTo>
                  <a:pt x="6865827" y="0"/>
                </a:lnTo>
                <a:lnTo>
                  <a:pt x="6865827" y="4922668"/>
                </a:lnTo>
                <a:lnTo>
                  <a:pt x="0" y="49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251138" y="2667455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Clasificación de objetos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51138" y="3080911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Reconocimiento de clase para cada entidad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26692" y="3711202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Detección de productos en estanterias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26692" y="4124658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Notificacion de productos mal colocados o faltantes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51138" y="4754949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Reconocimiento facial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51138" y="5168406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Detección de facciones y verificación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51138" y="5798697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Reconocimiento de texto en imágenes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1138" y="6212153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Detección de caracteres e idioma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51138" y="6842444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Diagnóstico Asistido por Computadora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51138" y="7255901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Detección de anomalías en el cuerpo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51138" y="7886192"/>
            <a:ext cx="7227352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1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Seguridad y Vigilancia Inteligente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51138" y="8299648"/>
            <a:ext cx="72273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9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Detección de personas y siniestros.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6923" y="1709614"/>
            <a:ext cx="8037448" cy="7872947"/>
            <a:chOff x="0" y="0"/>
            <a:chExt cx="10716598" cy="10497263"/>
          </a:xfrm>
        </p:grpSpPr>
        <p:grpSp>
          <p:nvGrpSpPr>
            <p:cNvPr id="3" name="Group 3"/>
            <p:cNvGrpSpPr/>
            <p:nvPr/>
          </p:nvGrpSpPr>
          <p:grpSpPr>
            <a:xfrm>
              <a:off x="868439" y="590640"/>
              <a:ext cx="9848158" cy="9906623"/>
              <a:chOff x="0" y="0"/>
              <a:chExt cx="1686987" cy="16970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6987" cy="1697002"/>
              </a:xfrm>
              <a:custGeom>
                <a:avLst/>
                <a:gdLst/>
                <a:ahLst/>
                <a:cxnLst/>
                <a:rect l="l" t="t" r="r" b="b"/>
                <a:pathLst>
                  <a:path w="1686987" h="1697002">
                    <a:moveTo>
                      <a:pt x="61643" y="0"/>
                    </a:moveTo>
                    <a:lnTo>
                      <a:pt x="1625345" y="0"/>
                    </a:lnTo>
                    <a:cubicBezTo>
                      <a:pt x="1659389" y="0"/>
                      <a:pt x="1686987" y="27598"/>
                      <a:pt x="1686987" y="61643"/>
                    </a:cubicBezTo>
                    <a:lnTo>
                      <a:pt x="1686987" y="1635359"/>
                    </a:lnTo>
                    <a:cubicBezTo>
                      <a:pt x="1686987" y="1669404"/>
                      <a:pt x="1659389" y="1697002"/>
                      <a:pt x="1625345" y="1697002"/>
                    </a:cubicBezTo>
                    <a:lnTo>
                      <a:pt x="61643" y="1697002"/>
                    </a:lnTo>
                    <a:cubicBezTo>
                      <a:pt x="27598" y="1697002"/>
                      <a:pt x="0" y="1669404"/>
                      <a:pt x="0" y="1635359"/>
                    </a:cubicBezTo>
                    <a:lnTo>
                      <a:pt x="0" y="61643"/>
                    </a:lnTo>
                    <a:cubicBezTo>
                      <a:pt x="0" y="27598"/>
                      <a:pt x="27598" y="0"/>
                      <a:pt x="61643" y="0"/>
                    </a:cubicBezTo>
                    <a:close/>
                  </a:path>
                </a:pathLst>
              </a:custGeom>
              <a:solidFill>
                <a:srgbClr val="54BAB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6987" cy="1744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2353002" cy="2353002"/>
            </a:xfrm>
            <a:custGeom>
              <a:avLst/>
              <a:gdLst/>
              <a:ahLst/>
              <a:cxnLst/>
              <a:rect l="l" t="t" r="r" b="b"/>
              <a:pathLst>
                <a:path w="2353002" h="2353002">
                  <a:moveTo>
                    <a:pt x="0" y="0"/>
                  </a:moveTo>
                  <a:lnTo>
                    <a:pt x="2353002" y="0"/>
                  </a:lnTo>
                  <a:lnTo>
                    <a:pt x="2353002" y="2353002"/>
                  </a:lnTo>
                  <a:lnTo>
                    <a:pt x="0" y="2353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881490" y="2152035"/>
            <a:ext cx="7087945" cy="7430526"/>
            <a:chOff x="0" y="0"/>
            <a:chExt cx="1686987" cy="17685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86987" cy="1768524"/>
            </a:xfrm>
            <a:custGeom>
              <a:avLst/>
              <a:gdLst/>
              <a:ahLst/>
              <a:cxnLst/>
              <a:rect l="l" t="t" r="r" b="b"/>
              <a:pathLst>
                <a:path w="1686987" h="1768524">
                  <a:moveTo>
                    <a:pt x="55706" y="0"/>
                  </a:moveTo>
                  <a:lnTo>
                    <a:pt x="1631282" y="0"/>
                  </a:lnTo>
                  <a:cubicBezTo>
                    <a:pt x="1662047" y="0"/>
                    <a:pt x="1686987" y="24940"/>
                    <a:pt x="1686987" y="55706"/>
                  </a:cubicBezTo>
                  <a:lnTo>
                    <a:pt x="1686987" y="1712819"/>
                  </a:lnTo>
                  <a:cubicBezTo>
                    <a:pt x="1686987" y="1727592"/>
                    <a:pt x="1681118" y="1741762"/>
                    <a:pt x="1670671" y="1752208"/>
                  </a:cubicBezTo>
                  <a:cubicBezTo>
                    <a:pt x="1660225" y="1762655"/>
                    <a:pt x="1646056" y="1768524"/>
                    <a:pt x="1631282" y="1768524"/>
                  </a:cubicBezTo>
                  <a:lnTo>
                    <a:pt x="55706" y="1768524"/>
                  </a:lnTo>
                  <a:cubicBezTo>
                    <a:pt x="40932" y="1768524"/>
                    <a:pt x="26763" y="1762655"/>
                    <a:pt x="16316" y="1752208"/>
                  </a:cubicBezTo>
                  <a:cubicBezTo>
                    <a:pt x="5869" y="1741762"/>
                    <a:pt x="0" y="1727592"/>
                    <a:pt x="0" y="1712819"/>
                  </a:cubicBezTo>
                  <a:lnTo>
                    <a:pt x="0" y="55706"/>
                  </a:lnTo>
                  <a:cubicBezTo>
                    <a:pt x="0" y="40932"/>
                    <a:pt x="5869" y="26763"/>
                    <a:pt x="16316" y="16316"/>
                  </a:cubicBezTo>
                  <a:cubicBezTo>
                    <a:pt x="26763" y="5869"/>
                    <a:pt x="40932" y="0"/>
                    <a:pt x="55706" y="0"/>
                  </a:cubicBezTo>
                  <a:close/>
                </a:path>
              </a:pathLst>
            </a:custGeom>
            <a:solidFill>
              <a:srgbClr val="54BAB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86987" cy="1816149"/>
            </a:xfrm>
            <a:prstGeom prst="rect">
              <a:avLst/>
            </a:prstGeom>
          </p:spPr>
          <p:txBody>
            <a:bodyPr lIns="56214" tIns="56214" rIns="56214" bIns="5621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96140" y="1709614"/>
            <a:ext cx="1662718" cy="1693509"/>
          </a:xfrm>
          <a:custGeom>
            <a:avLst/>
            <a:gdLst/>
            <a:ahLst/>
            <a:cxnLst/>
            <a:rect l="l" t="t" r="r" b="b"/>
            <a:pathLst>
              <a:path w="1662718" h="1693509">
                <a:moveTo>
                  <a:pt x="0" y="0"/>
                </a:moveTo>
                <a:lnTo>
                  <a:pt x="1662719" y="0"/>
                </a:lnTo>
                <a:lnTo>
                  <a:pt x="1662719" y="1693509"/>
                </a:lnTo>
                <a:lnTo>
                  <a:pt x="0" y="1693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5" r="-92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894371" y="5213563"/>
            <a:ext cx="987119" cy="755595"/>
          </a:xfrm>
          <a:custGeom>
            <a:avLst/>
            <a:gdLst/>
            <a:ahLst/>
            <a:cxnLst/>
            <a:rect l="l" t="t" r="r" b="b"/>
            <a:pathLst>
              <a:path w="987119" h="755595">
                <a:moveTo>
                  <a:pt x="0" y="0"/>
                </a:moveTo>
                <a:lnTo>
                  <a:pt x="987119" y="0"/>
                </a:lnTo>
                <a:lnTo>
                  <a:pt x="987119" y="755595"/>
                </a:lnTo>
                <a:lnTo>
                  <a:pt x="0" y="7555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13" name="Group 13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5842567" y="1709614"/>
            <a:ext cx="1716292" cy="1693509"/>
          </a:xfrm>
          <a:custGeom>
            <a:avLst/>
            <a:gdLst/>
            <a:ahLst/>
            <a:cxnLst/>
            <a:rect l="l" t="t" r="r" b="b"/>
            <a:pathLst>
              <a:path w="1716292" h="1693509">
                <a:moveTo>
                  <a:pt x="0" y="0"/>
                </a:moveTo>
                <a:lnTo>
                  <a:pt x="1716292" y="0"/>
                </a:lnTo>
                <a:lnTo>
                  <a:pt x="1716292" y="1693509"/>
                </a:lnTo>
                <a:lnTo>
                  <a:pt x="0" y="1693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914128" y="798827"/>
            <a:ext cx="10459745" cy="910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9"/>
              </a:lnSpc>
            </a:pPr>
            <a:r>
              <a:rPr lang="en-US" sz="5763" b="1">
                <a:solidFill>
                  <a:srgbClr val="1D1127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Ventajas y Limitaciones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0489" y="2495691"/>
            <a:ext cx="5508340" cy="636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25" lvl="1" indent="-38861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Automatizan la extracción de características</a:t>
            </a:r>
          </a:p>
          <a:p>
            <a:pPr marL="777225" lvl="1" indent="-38861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Excelente rendimiento en imágenes y videos</a:t>
            </a:r>
          </a:p>
          <a:p>
            <a:pPr marL="777225" lvl="1" indent="-38861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Generalizan bien en problemas visuale</a:t>
            </a:r>
          </a:p>
          <a:p>
            <a:pPr marL="777225" lvl="1" indent="-38861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Reutilizan filtros entre regiones (eficiencia)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15042" y="2467116"/>
            <a:ext cx="5738176" cy="700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Requieren grandes cantidades de datos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Alto costo computacional (GPU necesarias)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Pueden sobreajustarse si no hay suficiente data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Son poco interpretables (“cajas negras”)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99655">
            <a:off x="-864456" y="-2140616"/>
            <a:ext cx="12904022" cy="2892803"/>
            <a:chOff x="0" y="0"/>
            <a:chExt cx="17094914" cy="3832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94915" cy="3832310"/>
            </a:xfrm>
            <a:custGeom>
              <a:avLst/>
              <a:gdLst/>
              <a:ahLst/>
              <a:cxnLst/>
              <a:rect l="l" t="t" r="r" b="b"/>
              <a:pathLst>
                <a:path w="17094915" h="3832310">
                  <a:moveTo>
                    <a:pt x="0" y="0"/>
                  </a:moveTo>
                  <a:lnTo>
                    <a:pt x="17094915" y="0"/>
                  </a:lnTo>
                  <a:lnTo>
                    <a:pt x="17094915" y="3832310"/>
                  </a:lnTo>
                  <a:lnTo>
                    <a:pt x="0" y="3832310"/>
                  </a:ln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id="4" name="Group 4"/>
          <p:cNvGrpSpPr/>
          <p:nvPr/>
        </p:nvGrpSpPr>
        <p:grpSpPr>
          <a:xfrm rot="-499655">
            <a:off x="6037956" y="9603908"/>
            <a:ext cx="12904022" cy="2892803"/>
            <a:chOff x="0" y="0"/>
            <a:chExt cx="17094914" cy="3832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94915" cy="3832310"/>
            </a:xfrm>
            <a:custGeom>
              <a:avLst/>
              <a:gdLst/>
              <a:ahLst/>
              <a:cxnLst/>
              <a:rect l="l" t="t" r="r" b="b"/>
              <a:pathLst>
                <a:path w="17094915" h="3832310">
                  <a:moveTo>
                    <a:pt x="0" y="0"/>
                  </a:moveTo>
                  <a:lnTo>
                    <a:pt x="17094915" y="0"/>
                  </a:lnTo>
                  <a:lnTo>
                    <a:pt x="17094915" y="3832310"/>
                  </a:lnTo>
                  <a:lnTo>
                    <a:pt x="0" y="3832310"/>
                  </a:ln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7" name="Group 7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3443697" y="1028700"/>
            <a:ext cx="11400606" cy="9214022"/>
          </a:xfrm>
          <a:custGeom>
            <a:avLst/>
            <a:gdLst/>
            <a:ahLst/>
            <a:cxnLst/>
            <a:rect l="l" t="t" r="r" b="b"/>
            <a:pathLst>
              <a:path w="11400606" h="9214022">
                <a:moveTo>
                  <a:pt x="0" y="0"/>
                </a:moveTo>
                <a:lnTo>
                  <a:pt x="11400606" y="0"/>
                </a:lnTo>
                <a:lnTo>
                  <a:pt x="11400606" y="9214022"/>
                </a:lnTo>
                <a:lnTo>
                  <a:pt x="0" y="921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12046" y="105370"/>
            <a:ext cx="1126390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spc="600" dirty="0">
                <a:solidFill>
                  <a:srgbClr val="1D1127"/>
                </a:solidFill>
                <a:latin typeface="Noteworthy" panose="02000400000000000000" pitchFamily="2" charset="0"/>
                <a:ea typeface="Noteworthy" panose="02000400000000000000" pitchFamily="2" charset="0"/>
                <a:cs typeface="Poppins"/>
                <a:sym typeface="Poppins"/>
              </a:rPr>
              <a:t>DEMOSTRACION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1559" y="-28575"/>
            <a:ext cx="14512379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05"/>
              </a:lnSpc>
            </a:pPr>
            <a:r>
              <a:rPr lang="en-US" sz="9588">
                <a:solidFill>
                  <a:srgbClr val="010204"/>
                </a:solidFill>
                <a:latin typeface="Bobby Jones Condensed"/>
                <a:ea typeface="Bobby Jones Condensed"/>
                <a:cs typeface="Bobby Jones Condensed"/>
                <a:sym typeface="Bobby Jones Condensed"/>
              </a:rPr>
              <a:t>Conclusiones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6923" y="1931490"/>
            <a:ext cx="7325364" cy="3558359"/>
            <a:chOff x="0" y="0"/>
            <a:chExt cx="2092321" cy="10163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2321" cy="1016363"/>
            </a:xfrm>
            <a:custGeom>
              <a:avLst/>
              <a:gdLst/>
              <a:ahLst/>
              <a:cxnLst/>
              <a:rect l="l" t="t" r="r" b="b"/>
              <a:pathLst>
                <a:path w="2092321" h="1016363">
                  <a:moveTo>
                    <a:pt x="53900" y="0"/>
                  </a:moveTo>
                  <a:lnTo>
                    <a:pt x="2038421" y="0"/>
                  </a:lnTo>
                  <a:cubicBezTo>
                    <a:pt x="2052716" y="0"/>
                    <a:pt x="2066426" y="5679"/>
                    <a:pt x="2076534" y="15787"/>
                  </a:cubicBezTo>
                  <a:cubicBezTo>
                    <a:pt x="2086643" y="25895"/>
                    <a:pt x="2092321" y="39605"/>
                    <a:pt x="2092321" y="53900"/>
                  </a:cubicBezTo>
                  <a:lnTo>
                    <a:pt x="2092321" y="962463"/>
                  </a:lnTo>
                  <a:cubicBezTo>
                    <a:pt x="2092321" y="976758"/>
                    <a:pt x="2086643" y="990468"/>
                    <a:pt x="2076534" y="1000576"/>
                  </a:cubicBezTo>
                  <a:cubicBezTo>
                    <a:pt x="2066426" y="1010684"/>
                    <a:pt x="2052716" y="1016363"/>
                    <a:pt x="2038421" y="1016363"/>
                  </a:cubicBezTo>
                  <a:lnTo>
                    <a:pt x="53900" y="1016363"/>
                  </a:lnTo>
                  <a:cubicBezTo>
                    <a:pt x="39605" y="1016363"/>
                    <a:pt x="25895" y="1010684"/>
                    <a:pt x="15787" y="1000576"/>
                  </a:cubicBezTo>
                  <a:cubicBezTo>
                    <a:pt x="5679" y="990468"/>
                    <a:pt x="0" y="976758"/>
                    <a:pt x="0" y="962463"/>
                  </a:cubicBezTo>
                  <a:lnTo>
                    <a:pt x="0" y="53900"/>
                  </a:lnTo>
                  <a:cubicBezTo>
                    <a:pt x="0" y="39605"/>
                    <a:pt x="5679" y="25895"/>
                    <a:pt x="15787" y="15787"/>
                  </a:cubicBezTo>
                  <a:cubicBezTo>
                    <a:pt x="25895" y="5679"/>
                    <a:pt x="39605" y="0"/>
                    <a:pt x="539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92321" cy="1054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6923" y="6177037"/>
            <a:ext cx="7325364" cy="3696132"/>
            <a:chOff x="0" y="0"/>
            <a:chExt cx="2092321" cy="1055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2321" cy="1055715"/>
            </a:xfrm>
            <a:custGeom>
              <a:avLst/>
              <a:gdLst/>
              <a:ahLst/>
              <a:cxnLst/>
              <a:rect l="l" t="t" r="r" b="b"/>
              <a:pathLst>
                <a:path w="2092321" h="1055715">
                  <a:moveTo>
                    <a:pt x="53900" y="0"/>
                  </a:moveTo>
                  <a:lnTo>
                    <a:pt x="2038421" y="0"/>
                  </a:lnTo>
                  <a:cubicBezTo>
                    <a:pt x="2052716" y="0"/>
                    <a:pt x="2066426" y="5679"/>
                    <a:pt x="2076534" y="15787"/>
                  </a:cubicBezTo>
                  <a:cubicBezTo>
                    <a:pt x="2086643" y="25895"/>
                    <a:pt x="2092321" y="39605"/>
                    <a:pt x="2092321" y="53900"/>
                  </a:cubicBezTo>
                  <a:lnTo>
                    <a:pt x="2092321" y="1001815"/>
                  </a:lnTo>
                  <a:cubicBezTo>
                    <a:pt x="2092321" y="1016110"/>
                    <a:pt x="2086643" y="1029820"/>
                    <a:pt x="2076534" y="1039928"/>
                  </a:cubicBezTo>
                  <a:cubicBezTo>
                    <a:pt x="2066426" y="1050036"/>
                    <a:pt x="2052716" y="1055715"/>
                    <a:pt x="2038421" y="1055715"/>
                  </a:cubicBezTo>
                  <a:lnTo>
                    <a:pt x="53900" y="1055715"/>
                  </a:lnTo>
                  <a:cubicBezTo>
                    <a:pt x="39605" y="1055715"/>
                    <a:pt x="25895" y="1050036"/>
                    <a:pt x="15787" y="1039928"/>
                  </a:cubicBezTo>
                  <a:cubicBezTo>
                    <a:pt x="5679" y="1029820"/>
                    <a:pt x="0" y="1016110"/>
                    <a:pt x="0" y="1001815"/>
                  </a:cubicBezTo>
                  <a:lnTo>
                    <a:pt x="0" y="53900"/>
                  </a:lnTo>
                  <a:cubicBezTo>
                    <a:pt x="0" y="39605"/>
                    <a:pt x="5679" y="25895"/>
                    <a:pt x="15787" y="15787"/>
                  </a:cubicBezTo>
                  <a:cubicBezTo>
                    <a:pt x="25895" y="5679"/>
                    <a:pt x="39605" y="0"/>
                    <a:pt x="539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92321" cy="109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1694" y="1933447"/>
            <a:ext cx="7325364" cy="3556401"/>
            <a:chOff x="0" y="0"/>
            <a:chExt cx="2092321" cy="10158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2321" cy="1015804"/>
            </a:xfrm>
            <a:custGeom>
              <a:avLst/>
              <a:gdLst/>
              <a:ahLst/>
              <a:cxnLst/>
              <a:rect l="l" t="t" r="r" b="b"/>
              <a:pathLst>
                <a:path w="2092321" h="1015804">
                  <a:moveTo>
                    <a:pt x="53900" y="0"/>
                  </a:moveTo>
                  <a:lnTo>
                    <a:pt x="2038421" y="0"/>
                  </a:lnTo>
                  <a:cubicBezTo>
                    <a:pt x="2052716" y="0"/>
                    <a:pt x="2066426" y="5679"/>
                    <a:pt x="2076534" y="15787"/>
                  </a:cubicBezTo>
                  <a:cubicBezTo>
                    <a:pt x="2086643" y="25895"/>
                    <a:pt x="2092321" y="39605"/>
                    <a:pt x="2092321" y="53900"/>
                  </a:cubicBezTo>
                  <a:lnTo>
                    <a:pt x="2092321" y="961904"/>
                  </a:lnTo>
                  <a:cubicBezTo>
                    <a:pt x="2092321" y="976199"/>
                    <a:pt x="2086643" y="989909"/>
                    <a:pt x="2076534" y="1000017"/>
                  </a:cubicBezTo>
                  <a:cubicBezTo>
                    <a:pt x="2066426" y="1010125"/>
                    <a:pt x="2052716" y="1015804"/>
                    <a:pt x="2038421" y="1015804"/>
                  </a:cubicBezTo>
                  <a:lnTo>
                    <a:pt x="53900" y="1015804"/>
                  </a:lnTo>
                  <a:cubicBezTo>
                    <a:pt x="39605" y="1015804"/>
                    <a:pt x="25895" y="1010125"/>
                    <a:pt x="15787" y="1000017"/>
                  </a:cubicBezTo>
                  <a:cubicBezTo>
                    <a:pt x="5679" y="989909"/>
                    <a:pt x="0" y="976199"/>
                    <a:pt x="0" y="961904"/>
                  </a:cubicBezTo>
                  <a:lnTo>
                    <a:pt x="0" y="53900"/>
                  </a:lnTo>
                  <a:cubicBezTo>
                    <a:pt x="0" y="39605"/>
                    <a:pt x="5679" y="25895"/>
                    <a:pt x="15787" y="15787"/>
                  </a:cubicBezTo>
                  <a:cubicBezTo>
                    <a:pt x="25895" y="5679"/>
                    <a:pt x="39605" y="0"/>
                    <a:pt x="539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92321" cy="1053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32520" y="6178994"/>
            <a:ext cx="7325364" cy="3694175"/>
            <a:chOff x="0" y="0"/>
            <a:chExt cx="2092321" cy="1055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2321" cy="1055156"/>
            </a:xfrm>
            <a:custGeom>
              <a:avLst/>
              <a:gdLst/>
              <a:ahLst/>
              <a:cxnLst/>
              <a:rect l="l" t="t" r="r" b="b"/>
              <a:pathLst>
                <a:path w="2092321" h="1055156">
                  <a:moveTo>
                    <a:pt x="53900" y="0"/>
                  </a:moveTo>
                  <a:lnTo>
                    <a:pt x="2038421" y="0"/>
                  </a:lnTo>
                  <a:cubicBezTo>
                    <a:pt x="2052716" y="0"/>
                    <a:pt x="2066426" y="5679"/>
                    <a:pt x="2076534" y="15787"/>
                  </a:cubicBezTo>
                  <a:cubicBezTo>
                    <a:pt x="2086643" y="25895"/>
                    <a:pt x="2092321" y="39605"/>
                    <a:pt x="2092321" y="53900"/>
                  </a:cubicBezTo>
                  <a:lnTo>
                    <a:pt x="2092321" y="1001256"/>
                  </a:lnTo>
                  <a:cubicBezTo>
                    <a:pt x="2092321" y="1015551"/>
                    <a:pt x="2086643" y="1029261"/>
                    <a:pt x="2076534" y="1039369"/>
                  </a:cubicBezTo>
                  <a:cubicBezTo>
                    <a:pt x="2066426" y="1049477"/>
                    <a:pt x="2052716" y="1055156"/>
                    <a:pt x="2038421" y="1055156"/>
                  </a:cubicBezTo>
                  <a:lnTo>
                    <a:pt x="53900" y="1055156"/>
                  </a:lnTo>
                  <a:cubicBezTo>
                    <a:pt x="39605" y="1055156"/>
                    <a:pt x="25895" y="1049477"/>
                    <a:pt x="15787" y="1039369"/>
                  </a:cubicBezTo>
                  <a:cubicBezTo>
                    <a:pt x="5679" y="1029261"/>
                    <a:pt x="0" y="1015551"/>
                    <a:pt x="0" y="1001256"/>
                  </a:cubicBezTo>
                  <a:lnTo>
                    <a:pt x="0" y="53900"/>
                  </a:lnTo>
                  <a:cubicBezTo>
                    <a:pt x="0" y="39605"/>
                    <a:pt x="5679" y="25895"/>
                    <a:pt x="15787" y="15787"/>
                  </a:cubicBezTo>
                  <a:cubicBezTo>
                    <a:pt x="25895" y="5679"/>
                    <a:pt x="39605" y="0"/>
                    <a:pt x="53900" y="0"/>
                  </a:cubicBezTo>
                  <a:close/>
                </a:path>
              </a:pathLst>
            </a:custGeom>
            <a:solidFill>
              <a:srgbClr val="62DBD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92321" cy="1093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09684" y="1457325"/>
            <a:ext cx="5019841" cy="952244"/>
            <a:chOff x="0" y="0"/>
            <a:chExt cx="2732615" cy="5183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32615" cy="518366"/>
            </a:xfrm>
            <a:custGeom>
              <a:avLst/>
              <a:gdLst/>
              <a:ahLst/>
              <a:cxnLst/>
              <a:rect l="l" t="t" r="r" b="b"/>
              <a:pathLst>
                <a:path w="2732615" h="518366">
                  <a:moveTo>
                    <a:pt x="78655" y="0"/>
                  </a:moveTo>
                  <a:lnTo>
                    <a:pt x="2653959" y="0"/>
                  </a:lnTo>
                  <a:cubicBezTo>
                    <a:pt x="2674820" y="0"/>
                    <a:pt x="2694826" y="8287"/>
                    <a:pt x="2709577" y="23038"/>
                  </a:cubicBezTo>
                  <a:cubicBezTo>
                    <a:pt x="2724328" y="37788"/>
                    <a:pt x="2732615" y="57795"/>
                    <a:pt x="2732615" y="78655"/>
                  </a:cubicBezTo>
                  <a:lnTo>
                    <a:pt x="2732615" y="439711"/>
                  </a:lnTo>
                  <a:cubicBezTo>
                    <a:pt x="2732615" y="483151"/>
                    <a:pt x="2697399" y="518366"/>
                    <a:pt x="2653959" y="518366"/>
                  </a:cubicBezTo>
                  <a:lnTo>
                    <a:pt x="78655" y="518366"/>
                  </a:lnTo>
                  <a:cubicBezTo>
                    <a:pt x="35215" y="518366"/>
                    <a:pt x="0" y="483151"/>
                    <a:pt x="0" y="439711"/>
                  </a:cubicBezTo>
                  <a:lnTo>
                    <a:pt x="0" y="78655"/>
                  </a:lnTo>
                  <a:cubicBezTo>
                    <a:pt x="0" y="35215"/>
                    <a:pt x="35215" y="0"/>
                    <a:pt x="786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732615" cy="60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Bobby Jones Condensed"/>
                  <a:ea typeface="Bobby Jones Condensed"/>
                  <a:cs typeface="Bobby Jones Condensed"/>
                  <a:sym typeface="Bobby Jones Condensed"/>
                </a:rPr>
                <a:t>VÍDEOS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09684" y="5702872"/>
            <a:ext cx="5019841" cy="952244"/>
            <a:chOff x="0" y="0"/>
            <a:chExt cx="2732615" cy="518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32615" cy="518366"/>
            </a:xfrm>
            <a:custGeom>
              <a:avLst/>
              <a:gdLst/>
              <a:ahLst/>
              <a:cxnLst/>
              <a:rect l="l" t="t" r="r" b="b"/>
              <a:pathLst>
                <a:path w="2732615" h="518366">
                  <a:moveTo>
                    <a:pt x="78655" y="0"/>
                  </a:moveTo>
                  <a:lnTo>
                    <a:pt x="2653959" y="0"/>
                  </a:lnTo>
                  <a:cubicBezTo>
                    <a:pt x="2674820" y="0"/>
                    <a:pt x="2694826" y="8287"/>
                    <a:pt x="2709577" y="23038"/>
                  </a:cubicBezTo>
                  <a:cubicBezTo>
                    <a:pt x="2724328" y="37788"/>
                    <a:pt x="2732615" y="57795"/>
                    <a:pt x="2732615" y="78655"/>
                  </a:cubicBezTo>
                  <a:lnTo>
                    <a:pt x="2732615" y="439711"/>
                  </a:lnTo>
                  <a:cubicBezTo>
                    <a:pt x="2732615" y="483151"/>
                    <a:pt x="2697399" y="518366"/>
                    <a:pt x="2653959" y="518366"/>
                  </a:cubicBezTo>
                  <a:lnTo>
                    <a:pt x="78655" y="518366"/>
                  </a:lnTo>
                  <a:cubicBezTo>
                    <a:pt x="35215" y="518366"/>
                    <a:pt x="0" y="483151"/>
                    <a:pt x="0" y="439711"/>
                  </a:cubicBezTo>
                  <a:lnTo>
                    <a:pt x="0" y="78655"/>
                  </a:lnTo>
                  <a:cubicBezTo>
                    <a:pt x="0" y="35215"/>
                    <a:pt x="35215" y="0"/>
                    <a:pt x="786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732615" cy="60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Bobby Jones Condensed"/>
                  <a:ea typeface="Bobby Jones Condensed"/>
                  <a:cs typeface="Bobby Jones Condensed"/>
                  <a:sym typeface="Bobby Jones Condensed"/>
                </a:rPr>
                <a:t>EN AUDIO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54455" y="1457325"/>
            <a:ext cx="5019841" cy="952244"/>
            <a:chOff x="0" y="0"/>
            <a:chExt cx="2732615" cy="5183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2615" cy="518366"/>
            </a:xfrm>
            <a:custGeom>
              <a:avLst/>
              <a:gdLst/>
              <a:ahLst/>
              <a:cxnLst/>
              <a:rect l="l" t="t" r="r" b="b"/>
              <a:pathLst>
                <a:path w="2732615" h="518366">
                  <a:moveTo>
                    <a:pt x="78655" y="0"/>
                  </a:moveTo>
                  <a:lnTo>
                    <a:pt x="2653959" y="0"/>
                  </a:lnTo>
                  <a:cubicBezTo>
                    <a:pt x="2674820" y="0"/>
                    <a:pt x="2694826" y="8287"/>
                    <a:pt x="2709577" y="23038"/>
                  </a:cubicBezTo>
                  <a:cubicBezTo>
                    <a:pt x="2724328" y="37788"/>
                    <a:pt x="2732615" y="57795"/>
                    <a:pt x="2732615" y="78655"/>
                  </a:cubicBezTo>
                  <a:lnTo>
                    <a:pt x="2732615" y="439711"/>
                  </a:lnTo>
                  <a:cubicBezTo>
                    <a:pt x="2732615" y="483151"/>
                    <a:pt x="2697399" y="518366"/>
                    <a:pt x="2653959" y="518366"/>
                  </a:cubicBezTo>
                  <a:lnTo>
                    <a:pt x="78655" y="518366"/>
                  </a:lnTo>
                  <a:cubicBezTo>
                    <a:pt x="35215" y="518366"/>
                    <a:pt x="0" y="483151"/>
                    <a:pt x="0" y="439711"/>
                  </a:cubicBezTo>
                  <a:lnTo>
                    <a:pt x="0" y="78655"/>
                  </a:lnTo>
                  <a:cubicBezTo>
                    <a:pt x="0" y="35215"/>
                    <a:pt x="35215" y="0"/>
                    <a:pt x="786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732615" cy="60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Bobby Jones Condensed"/>
                  <a:ea typeface="Bobby Jones Condensed"/>
                  <a:cs typeface="Bobby Jones Condensed"/>
                  <a:sym typeface="Bobby Jones Condensed"/>
                </a:rPr>
                <a:t>FOTOGRAFÍAS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54455" y="5702872"/>
            <a:ext cx="5019841" cy="952244"/>
            <a:chOff x="0" y="0"/>
            <a:chExt cx="2732615" cy="518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32615" cy="518366"/>
            </a:xfrm>
            <a:custGeom>
              <a:avLst/>
              <a:gdLst/>
              <a:ahLst/>
              <a:cxnLst/>
              <a:rect l="l" t="t" r="r" b="b"/>
              <a:pathLst>
                <a:path w="2732615" h="518366">
                  <a:moveTo>
                    <a:pt x="78655" y="0"/>
                  </a:moveTo>
                  <a:lnTo>
                    <a:pt x="2653959" y="0"/>
                  </a:lnTo>
                  <a:cubicBezTo>
                    <a:pt x="2674820" y="0"/>
                    <a:pt x="2694826" y="8287"/>
                    <a:pt x="2709577" y="23038"/>
                  </a:cubicBezTo>
                  <a:cubicBezTo>
                    <a:pt x="2724328" y="37788"/>
                    <a:pt x="2732615" y="57795"/>
                    <a:pt x="2732615" y="78655"/>
                  </a:cubicBezTo>
                  <a:lnTo>
                    <a:pt x="2732615" y="439711"/>
                  </a:lnTo>
                  <a:cubicBezTo>
                    <a:pt x="2732615" y="483151"/>
                    <a:pt x="2697399" y="518366"/>
                    <a:pt x="2653959" y="518366"/>
                  </a:cubicBezTo>
                  <a:lnTo>
                    <a:pt x="78655" y="518366"/>
                  </a:lnTo>
                  <a:cubicBezTo>
                    <a:pt x="35215" y="518366"/>
                    <a:pt x="0" y="483151"/>
                    <a:pt x="0" y="439711"/>
                  </a:cubicBezTo>
                  <a:lnTo>
                    <a:pt x="0" y="78655"/>
                  </a:lnTo>
                  <a:cubicBezTo>
                    <a:pt x="0" y="35215"/>
                    <a:pt x="35215" y="0"/>
                    <a:pt x="786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2732615" cy="60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Bobby Jones Condensed"/>
                  <a:ea typeface="Bobby Jones Condensed"/>
                  <a:cs typeface="Bobby Jones Condensed"/>
                  <a:sym typeface="Bobby Jones Condensed"/>
                </a:rPr>
                <a:t>REDES SOCIALES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59093" y="2375385"/>
            <a:ext cx="6165953" cy="312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8"/>
              </a:lnSpc>
              <a:spcBef>
                <a:spcPct val="0"/>
              </a:spcBef>
            </a:pPr>
            <a:r>
              <a:rPr lang="en-US" sz="222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CNN permiten analizar secuencias de imágenes en movimiento, detectando patrones temporales, Las CNN permiten analizar secuencias de imágenes en movimiento, Gracias a esto se pueden reconocer acciones humanas, identificar eventos en tiempo real y mejorar la seguridad mediante vigilancia inteligente.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29" name="Group 29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881399" y="2375385"/>
            <a:ext cx="6165953" cy="273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8"/>
              </a:lnSpc>
              <a:spcBef>
                <a:spcPct val="0"/>
              </a:spcBef>
            </a:pPr>
            <a:r>
              <a:rPr lang="en-US" sz="222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CNN revolucionaron el análisis de imágenes al poder identificar objetos, rostros y escenas con una precisión similar o incluso superior a la humana, y esto ha impulsado aplicaciones en diagnóstico médico, reconocimiento facial y clasificación automática de imágenes.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6628" y="6683573"/>
            <a:ext cx="6165953" cy="273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8"/>
              </a:lnSpc>
              <a:spcBef>
                <a:spcPct val="0"/>
              </a:spcBef>
            </a:pPr>
            <a:r>
              <a:rPr lang="en-US" sz="222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se aplican a audio, las CNN aprenden a reconocer patrones en las frecuencias y el tiempo, ya sea desde la onda sonora o mediante espectrogramas, y esto permite crear sistemas capaces de reconocer voces, identificar sonidos ambientales o analizar música.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12225" y="6683573"/>
            <a:ext cx="6165953" cy="23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8"/>
              </a:lnSpc>
              <a:spcBef>
                <a:spcPct val="0"/>
              </a:spcBef>
            </a:pPr>
            <a:r>
              <a:rPr lang="en-US" sz="222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CNN también pueden analizar el contenido visual y multimedia que se publica en redes sociales: imágenes, videos o incluso memes, y ayudan a detectar contenido inapropiado, identificar tendencias visuales o clasificar emociones en publicaciones.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3948" y="9932499"/>
            <a:ext cx="19573579" cy="1241847"/>
            <a:chOff x="0" y="0"/>
            <a:chExt cx="7140495" cy="453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0494" cy="453029"/>
            </a:xfrm>
            <a:custGeom>
              <a:avLst/>
              <a:gdLst/>
              <a:ahLst/>
              <a:cxnLst/>
              <a:rect l="l" t="t" r="r" b="b"/>
              <a:pathLst>
                <a:path w="7140494" h="453029">
                  <a:moveTo>
                    <a:pt x="0" y="0"/>
                  </a:moveTo>
                  <a:lnTo>
                    <a:pt x="7140494" y="0"/>
                  </a:lnTo>
                  <a:lnTo>
                    <a:pt x="7140494" y="453029"/>
                  </a:lnTo>
                  <a:lnTo>
                    <a:pt x="0" y="453029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880668" y="-10451006"/>
            <a:ext cx="14526665" cy="14526665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44692" y="2723698"/>
            <a:ext cx="3611773" cy="3611773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840028" cy="14840029"/>
            </a:xfrm>
            <a:custGeom>
              <a:avLst/>
              <a:gdLst/>
              <a:ahLst/>
              <a:cxnLst/>
              <a:rect l="l" t="t" r="r" b="b"/>
              <a:pathLst>
                <a:path w="14840028" h="14840029">
                  <a:moveTo>
                    <a:pt x="0" y="14278015"/>
                  </a:moveTo>
                  <a:cubicBezTo>
                    <a:pt x="0" y="14588407"/>
                    <a:pt x="251623" y="14840029"/>
                    <a:pt x="562014" y="14840029"/>
                  </a:cubicBezTo>
                  <a:lnTo>
                    <a:pt x="14278014" y="14840029"/>
                  </a:lnTo>
                  <a:cubicBezTo>
                    <a:pt x="14588406" y="14840029"/>
                    <a:pt x="14840028" y="14588407"/>
                    <a:pt x="14840028" y="14278015"/>
                  </a:cubicBezTo>
                  <a:lnTo>
                    <a:pt x="14840028" y="7420008"/>
                  </a:lnTo>
                  <a:cubicBezTo>
                    <a:pt x="14840028" y="5371186"/>
                    <a:pt x="14008900" y="3515413"/>
                    <a:pt x="12666756" y="2173270"/>
                  </a:cubicBezTo>
                  <a:cubicBezTo>
                    <a:pt x="11324611" y="831128"/>
                    <a:pt x="9468837" y="0"/>
                    <a:pt x="7420008" y="0"/>
                  </a:cubicBezTo>
                  <a:cubicBezTo>
                    <a:pt x="5371186" y="0"/>
                    <a:pt x="3515413" y="831129"/>
                    <a:pt x="2173271" y="2173270"/>
                  </a:cubicBezTo>
                  <a:cubicBezTo>
                    <a:pt x="831129" y="3515411"/>
                    <a:pt x="0" y="5371184"/>
                    <a:pt x="0" y="7420008"/>
                  </a:cubicBezTo>
                  <a:lnTo>
                    <a:pt x="0" y="14278015"/>
                  </a:ln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00383" y="200383"/>
              <a:ext cx="14439261" cy="14439263"/>
            </a:xfrm>
            <a:custGeom>
              <a:avLst/>
              <a:gdLst/>
              <a:ahLst/>
              <a:cxnLst/>
              <a:rect l="l" t="t" r="r" b="b"/>
              <a:pathLst>
                <a:path w="14439261" h="14439263">
                  <a:moveTo>
                    <a:pt x="105919" y="14333344"/>
                  </a:moveTo>
                  <a:cubicBezTo>
                    <a:pt x="173739" y="14401163"/>
                    <a:pt x="265721" y="14439263"/>
                    <a:pt x="361631" y="14439263"/>
                  </a:cubicBezTo>
                  <a:lnTo>
                    <a:pt x="14077631" y="14439263"/>
                  </a:lnTo>
                  <a:cubicBezTo>
                    <a:pt x="14277353" y="14439263"/>
                    <a:pt x="14439261" y="14277355"/>
                    <a:pt x="14439261" y="14077632"/>
                  </a:cubicBezTo>
                  <a:lnTo>
                    <a:pt x="14439261" y="7219625"/>
                  </a:lnTo>
                  <a:cubicBezTo>
                    <a:pt x="14439261" y="5226083"/>
                    <a:pt x="13630784" y="3420682"/>
                    <a:pt x="12324685" y="2114583"/>
                  </a:cubicBezTo>
                  <a:cubicBezTo>
                    <a:pt x="11018583" y="808481"/>
                    <a:pt x="9213177" y="0"/>
                    <a:pt x="7219625" y="0"/>
                  </a:cubicBezTo>
                  <a:cubicBezTo>
                    <a:pt x="5226081" y="0"/>
                    <a:pt x="3420678" y="808481"/>
                    <a:pt x="2114580" y="2114579"/>
                  </a:cubicBezTo>
                  <a:cubicBezTo>
                    <a:pt x="808481" y="3420678"/>
                    <a:pt x="0" y="5226081"/>
                    <a:pt x="0" y="7219625"/>
                  </a:cubicBezTo>
                  <a:lnTo>
                    <a:pt x="0" y="14077632"/>
                  </a:lnTo>
                  <a:cubicBezTo>
                    <a:pt x="0" y="14173543"/>
                    <a:pt x="38100" y="14265525"/>
                    <a:pt x="105919" y="14333344"/>
                  </a:cubicBez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62015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6858006" y="0"/>
                  </a:moveTo>
                  <a:cubicBezTo>
                    <a:pt x="3070442" y="0"/>
                    <a:pt x="0" y="3070429"/>
                    <a:pt x="0" y="6857994"/>
                  </a:cubicBezTo>
                  <a:lnTo>
                    <a:pt x="0" y="13716001"/>
                  </a:lnTo>
                  <a:lnTo>
                    <a:pt x="13716000" y="13716001"/>
                  </a:lnTo>
                  <a:lnTo>
                    <a:pt x="13716000" y="6857994"/>
                  </a:lnTo>
                  <a:cubicBezTo>
                    <a:pt x="13716000" y="3070429"/>
                    <a:pt x="10645570" y="0"/>
                    <a:pt x="6858006" y="0"/>
                  </a:cubicBezTo>
                  <a:close/>
                </a:path>
              </a:pathLst>
            </a:custGeom>
            <a:blipFill>
              <a:blip r:embed="rId2"/>
              <a:stretch>
                <a:fillRect l="-2707" r="-47104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5373640" y="2723698"/>
            <a:ext cx="3611773" cy="3611773"/>
            <a:chOff x="0" y="0"/>
            <a:chExt cx="14840029" cy="148400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840028" cy="14840029"/>
            </a:xfrm>
            <a:custGeom>
              <a:avLst/>
              <a:gdLst/>
              <a:ahLst/>
              <a:cxnLst/>
              <a:rect l="l" t="t" r="r" b="b"/>
              <a:pathLst>
                <a:path w="14840028" h="14840029">
                  <a:moveTo>
                    <a:pt x="0" y="14278015"/>
                  </a:moveTo>
                  <a:cubicBezTo>
                    <a:pt x="0" y="14588407"/>
                    <a:pt x="251623" y="14840029"/>
                    <a:pt x="562014" y="14840029"/>
                  </a:cubicBezTo>
                  <a:lnTo>
                    <a:pt x="14278014" y="14840029"/>
                  </a:lnTo>
                  <a:cubicBezTo>
                    <a:pt x="14588406" y="14840029"/>
                    <a:pt x="14840028" y="14588407"/>
                    <a:pt x="14840028" y="14278015"/>
                  </a:cubicBezTo>
                  <a:lnTo>
                    <a:pt x="14840028" y="7420008"/>
                  </a:lnTo>
                  <a:cubicBezTo>
                    <a:pt x="14840028" y="5371186"/>
                    <a:pt x="14008900" y="3515413"/>
                    <a:pt x="12666756" y="2173270"/>
                  </a:cubicBezTo>
                  <a:cubicBezTo>
                    <a:pt x="11324611" y="831128"/>
                    <a:pt x="9468837" y="0"/>
                    <a:pt x="7420008" y="0"/>
                  </a:cubicBezTo>
                  <a:cubicBezTo>
                    <a:pt x="5371186" y="0"/>
                    <a:pt x="3515413" y="831129"/>
                    <a:pt x="2173271" y="2173270"/>
                  </a:cubicBezTo>
                  <a:cubicBezTo>
                    <a:pt x="831129" y="3515411"/>
                    <a:pt x="0" y="5371184"/>
                    <a:pt x="0" y="7420008"/>
                  </a:cubicBezTo>
                  <a:lnTo>
                    <a:pt x="0" y="14278015"/>
                  </a:ln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00383" y="200383"/>
              <a:ext cx="14439261" cy="14439263"/>
            </a:xfrm>
            <a:custGeom>
              <a:avLst/>
              <a:gdLst/>
              <a:ahLst/>
              <a:cxnLst/>
              <a:rect l="l" t="t" r="r" b="b"/>
              <a:pathLst>
                <a:path w="14439261" h="14439263">
                  <a:moveTo>
                    <a:pt x="105919" y="14333344"/>
                  </a:moveTo>
                  <a:cubicBezTo>
                    <a:pt x="173739" y="14401163"/>
                    <a:pt x="265721" y="14439263"/>
                    <a:pt x="361631" y="14439263"/>
                  </a:cubicBezTo>
                  <a:lnTo>
                    <a:pt x="14077631" y="14439263"/>
                  </a:lnTo>
                  <a:cubicBezTo>
                    <a:pt x="14277353" y="14439263"/>
                    <a:pt x="14439261" y="14277355"/>
                    <a:pt x="14439261" y="14077632"/>
                  </a:cubicBezTo>
                  <a:lnTo>
                    <a:pt x="14439261" y="7219625"/>
                  </a:lnTo>
                  <a:cubicBezTo>
                    <a:pt x="14439261" y="5226083"/>
                    <a:pt x="13630784" y="3420682"/>
                    <a:pt x="12324685" y="2114583"/>
                  </a:cubicBezTo>
                  <a:cubicBezTo>
                    <a:pt x="11018583" y="808481"/>
                    <a:pt x="9213177" y="0"/>
                    <a:pt x="7219625" y="0"/>
                  </a:cubicBezTo>
                  <a:cubicBezTo>
                    <a:pt x="5226081" y="0"/>
                    <a:pt x="3420678" y="808481"/>
                    <a:pt x="2114580" y="2114579"/>
                  </a:cubicBezTo>
                  <a:cubicBezTo>
                    <a:pt x="808481" y="3420678"/>
                    <a:pt x="0" y="5226081"/>
                    <a:pt x="0" y="7219625"/>
                  </a:cubicBezTo>
                  <a:lnTo>
                    <a:pt x="0" y="14077632"/>
                  </a:lnTo>
                  <a:cubicBezTo>
                    <a:pt x="0" y="14173543"/>
                    <a:pt x="38100" y="14265525"/>
                    <a:pt x="105919" y="14333344"/>
                  </a:cubicBez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562015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6858006" y="0"/>
                  </a:moveTo>
                  <a:cubicBezTo>
                    <a:pt x="3070442" y="0"/>
                    <a:pt x="0" y="3070429"/>
                    <a:pt x="0" y="6857994"/>
                  </a:cubicBezTo>
                  <a:lnTo>
                    <a:pt x="0" y="13716001"/>
                  </a:lnTo>
                  <a:lnTo>
                    <a:pt x="13716000" y="13716001"/>
                  </a:lnTo>
                  <a:lnTo>
                    <a:pt x="13716000" y="6857994"/>
                  </a:lnTo>
                  <a:cubicBezTo>
                    <a:pt x="13716000" y="3070429"/>
                    <a:pt x="10645570" y="0"/>
                    <a:pt x="6858006" y="0"/>
                  </a:cubicBezTo>
                  <a:close/>
                </a:path>
              </a:pathLst>
            </a:custGeom>
            <a:blipFill>
              <a:blip r:embed="rId3"/>
              <a:stretch>
                <a:fillRect l="-17988" r="-17988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302588" y="2723698"/>
            <a:ext cx="3611773" cy="3611773"/>
            <a:chOff x="0" y="0"/>
            <a:chExt cx="14840029" cy="148400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840028" cy="14840029"/>
            </a:xfrm>
            <a:custGeom>
              <a:avLst/>
              <a:gdLst/>
              <a:ahLst/>
              <a:cxnLst/>
              <a:rect l="l" t="t" r="r" b="b"/>
              <a:pathLst>
                <a:path w="14840028" h="14840029">
                  <a:moveTo>
                    <a:pt x="0" y="14278015"/>
                  </a:moveTo>
                  <a:cubicBezTo>
                    <a:pt x="0" y="14588407"/>
                    <a:pt x="251623" y="14840029"/>
                    <a:pt x="562014" y="14840029"/>
                  </a:cubicBezTo>
                  <a:lnTo>
                    <a:pt x="14278014" y="14840029"/>
                  </a:lnTo>
                  <a:cubicBezTo>
                    <a:pt x="14588406" y="14840029"/>
                    <a:pt x="14840028" y="14588407"/>
                    <a:pt x="14840028" y="14278015"/>
                  </a:cubicBezTo>
                  <a:lnTo>
                    <a:pt x="14840028" y="7420008"/>
                  </a:lnTo>
                  <a:cubicBezTo>
                    <a:pt x="14840028" y="5371186"/>
                    <a:pt x="14008900" y="3515413"/>
                    <a:pt x="12666756" y="2173270"/>
                  </a:cubicBezTo>
                  <a:cubicBezTo>
                    <a:pt x="11324611" y="831128"/>
                    <a:pt x="9468837" y="0"/>
                    <a:pt x="7420008" y="0"/>
                  </a:cubicBezTo>
                  <a:cubicBezTo>
                    <a:pt x="5371186" y="0"/>
                    <a:pt x="3515413" y="831129"/>
                    <a:pt x="2173271" y="2173270"/>
                  </a:cubicBezTo>
                  <a:cubicBezTo>
                    <a:pt x="831129" y="3515411"/>
                    <a:pt x="0" y="5371184"/>
                    <a:pt x="0" y="7420008"/>
                  </a:cubicBezTo>
                  <a:lnTo>
                    <a:pt x="0" y="14278015"/>
                  </a:ln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00383" y="200383"/>
              <a:ext cx="14439261" cy="14439263"/>
            </a:xfrm>
            <a:custGeom>
              <a:avLst/>
              <a:gdLst/>
              <a:ahLst/>
              <a:cxnLst/>
              <a:rect l="l" t="t" r="r" b="b"/>
              <a:pathLst>
                <a:path w="14439261" h="14439263">
                  <a:moveTo>
                    <a:pt x="105919" y="14333344"/>
                  </a:moveTo>
                  <a:cubicBezTo>
                    <a:pt x="173739" y="14401163"/>
                    <a:pt x="265721" y="14439263"/>
                    <a:pt x="361631" y="14439263"/>
                  </a:cubicBezTo>
                  <a:lnTo>
                    <a:pt x="14077631" y="14439263"/>
                  </a:lnTo>
                  <a:cubicBezTo>
                    <a:pt x="14277353" y="14439263"/>
                    <a:pt x="14439261" y="14277355"/>
                    <a:pt x="14439261" y="14077632"/>
                  </a:cubicBezTo>
                  <a:lnTo>
                    <a:pt x="14439261" y="7219625"/>
                  </a:lnTo>
                  <a:cubicBezTo>
                    <a:pt x="14439261" y="5226083"/>
                    <a:pt x="13630784" y="3420682"/>
                    <a:pt x="12324685" y="2114583"/>
                  </a:cubicBezTo>
                  <a:cubicBezTo>
                    <a:pt x="11018583" y="808481"/>
                    <a:pt x="9213177" y="0"/>
                    <a:pt x="7219625" y="0"/>
                  </a:cubicBezTo>
                  <a:cubicBezTo>
                    <a:pt x="5226081" y="0"/>
                    <a:pt x="3420678" y="808481"/>
                    <a:pt x="2114580" y="2114579"/>
                  </a:cubicBezTo>
                  <a:cubicBezTo>
                    <a:pt x="808481" y="3420678"/>
                    <a:pt x="0" y="5226081"/>
                    <a:pt x="0" y="7219625"/>
                  </a:cubicBezTo>
                  <a:lnTo>
                    <a:pt x="0" y="14077632"/>
                  </a:lnTo>
                  <a:cubicBezTo>
                    <a:pt x="0" y="14173543"/>
                    <a:pt x="38100" y="14265525"/>
                    <a:pt x="105919" y="14333344"/>
                  </a:cubicBez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562015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6858006" y="0"/>
                  </a:moveTo>
                  <a:cubicBezTo>
                    <a:pt x="3070442" y="0"/>
                    <a:pt x="0" y="3070429"/>
                    <a:pt x="0" y="6857994"/>
                  </a:cubicBezTo>
                  <a:lnTo>
                    <a:pt x="0" y="13716001"/>
                  </a:lnTo>
                  <a:lnTo>
                    <a:pt x="13716000" y="13716001"/>
                  </a:lnTo>
                  <a:lnTo>
                    <a:pt x="13716000" y="6857994"/>
                  </a:lnTo>
                  <a:cubicBezTo>
                    <a:pt x="13716000" y="3070429"/>
                    <a:pt x="10645570" y="0"/>
                    <a:pt x="6858006" y="0"/>
                  </a:cubicBezTo>
                  <a:close/>
                </a:path>
              </a:pathLst>
            </a:custGeom>
            <a:blipFill>
              <a:blip r:embed="rId4"/>
              <a:stretch>
                <a:fillRect l="-39041" r="-39041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231536" y="2723698"/>
            <a:ext cx="3611773" cy="3611773"/>
            <a:chOff x="0" y="0"/>
            <a:chExt cx="14840029" cy="148400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40028" cy="14840029"/>
            </a:xfrm>
            <a:custGeom>
              <a:avLst/>
              <a:gdLst/>
              <a:ahLst/>
              <a:cxnLst/>
              <a:rect l="l" t="t" r="r" b="b"/>
              <a:pathLst>
                <a:path w="14840028" h="14840029">
                  <a:moveTo>
                    <a:pt x="0" y="14278015"/>
                  </a:moveTo>
                  <a:cubicBezTo>
                    <a:pt x="0" y="14588407"/>
                    <a:pt x="251623" y="14840029"/>
                    <a:pt x="562014" y="14840029"/>
                  </a:cubicBezTo>
                  <a:lnTo>
                    <a:pt x="14278014" y="14840029"/>
                  </a:lnTo>
                  <a:cubicBezTo>
                    <a:pt x="14588406" y="14840029"/>
                    <a:pt x="14840028" y="14588407"/>
                    <a:pt x="14840028" y="14278015"/>
                  </a:cubicBezTo>
                  <a:lnTo>
                    <a:pt x="14840028" y="7420008"/>
                  </a:lnTo>
                  <a:cubicBezTo>
                    <a:pt x="14840028" y="5371186"/>
                    <a:pt x="14008900" y="3515413"/>
                    <a:pt x="12666756" y="2173270"/>
                  </a:cubicBezTo>
                  <a:cubicBezTo>
                    <a:pt x="11324611" y="831128"/>
                    <a:pt x="9468837" y="0"/>
                    <a:pt x="7420008" y="0"/>
                  </a:cubicBezTo>
                  <a:cubicBezTo>
                    <a:pt x="5371186" y="0"/>
                    <a:pt x="3515413" y="831129"/>
                    <a:pt x="2173271" y="2173270"/>
                  </a:cubicBezTo>
                  <a:cubicBezTo>
                    <a:pt x="831129" y="3515411"/>
                    <a:pt x="0" y="5371184"/>
                    <a:pt x="0" y="7420008"/>
                  </a:cubicBezTo>
                  <a:lnTo>
                    <a:pt x="0" y="14278015"/>
                  </a:ln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00383" y="200383"/>
              <a:ext cx="14439261" cy="14439263"/>
            </a:xfrm>
            <a:custGeom>
              <a:avLst/>
              <a:gdLst/>
              <a:ahLst/>
              <a:cxnLst/>
              <a:rect l="l" t="t" r="r" b="b"/>
              <a:pathLst>
                <a:path w="14439261" h="14439263">
                  <a:moveTo>
                    <a:pt x="105919" y="14333344"/>
                  </a:moveTo>
                  <a:cubicBezTo>
                    <a:pt x="173739" y="14401163"/>
                    <a:pt x="265721" y="14439263"/>
                    <a:pt x="361631" y="14439263"/>
                  </a:cubicBezTo>
                  <a:lnTo>
                    <a:pt x="14077631" y="14439263"/>
                  </a:lnTo>
                  <a:cubicBezTo>
                    <a:pt x="14277353" y="14439263"/>
                    <a:pt x="14439261" y="14277355"/>
                    <a:pt x="14439261" y="14077632"/>
                  </a:cubicBezTo>
                  <a:lnTo>
                    <a:pt x="14439261" y="7219625"/>
                  </a:lnTo>
                  <a:cubicBezTo>
                    <a:pt x="14439261" y="5226083"/>
                    <a:pt x="13630784" y="3420682"/>
                    <a:pt x="12324685" y="2114583"/>
                  </a:cubicBezTo>
                  <a:cubicBezTo>
                    <a:pt x="11018583" y="808481"/>
                    <a:pt x="9213177" y="0"/>
                    <a:pt x="7219625" y="0"/>
                  </a:cubicBezTo>
                  <a:cubicBezTo>
                    <a:pt x="5226081" y="0"/>
                    <a:pt x="3420678" y="808481"/>
                    <a:pt x="2114580" y="2114579"/>
                  </a:cubicBezTo>
                  <a:cubicBezTo>
                    <a:pt x="808481" y="3420678"/>
                    <a:pt x="0" y="5226081"/>
                    <a:pt x="0" y="7219625"/>
                  </a:cubicBezTo>
                  <a:lnTo>
                    <a:pt x="0" y="14077632"/>
                  </a:lnTo>
                  <a:cubicBezTo>
                    <a:pt x="0" y="14173543"/>
                    <a:pt x="38100" y="14265525"/>
                    <a:pt x="105919" y="14333344"/>
                  </a:cubicBezTo>
                  <a:close/>
                </a:path>
              </a:pathLst>
            </a:custGeom>
            <a:solidFill>
              <a:srgbClr val="2083C4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562015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6858006" y="0"/>
                  </a:moveTo>
                  <a:cubicBezTo>
                    <a:pt x="3070442" y="0"/>
                    <a:pt x="0" y="3070429"/>
                    <a:pt x="0" y="6857994"/>
                  </a:cubicBezTo>
                  <a:lnTo>
                    <a:pt x="0" y="13716001"/>
                  </a:lnTo>
                  <a:lnTo>
                    <a:pt x="13716000" y="13716001"/>
                  </a:lnTo>
                  <a:lnTo>
                    <a:pt x="13716000" y="6857994"/>
                  </a:lnTo>
                  <a:cubicBezTo>
                    <a:pt x="13716000" y="3070429"/>
                    <a:pt x="10645570" y="0"/>
                    <a:pt x="6858006" y="0"/>
                  </a:cubicBezTo>
                  <a:close/>
                </a:path>
              </a:pathLst>
            </a:custGeom>
            <a:blipFill>
              <a:blip r:embed="rId5"/>
              <a:stretch>
                <a:fillRect t="-12363" b="-37636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15476358" y="567582"/>
            <a:ext cx="2555551" cy="2555551"/>
          </a:xfrm>
          <a:custGeom>
            <a:avLst/>
            <a:gdLst/>
            <a:ahLst/>
            <a:cxnLst/>
            <a:rect l="l" t="t" r="r" b="b"/>
            <a:pathLst>
              <a:path w="2555551" h="2555551">
                <a:moveTo>
                  <a:pt x="0" y="0"/>
                </a:moveTo>
                <a:lnTo>
                  <a:pt x="2555552" y="0"/>
                </a:lnTo>
                <a:lnTo>
                  <a:pt x="2555552" y="2555551"/>
                </a:lnTo>
                <a:lnTo>
                  <a:pt x="0" y="255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24525" y="769898"/>
            <a:ext cx="2046838" cy="1953800"/>
          </a:xfrm>
          <a:custGeom>
            <a:avLst/>
            <a:gdLst/>
            <a:ahLst/>
            <a:cxnLst/>
            <a:rect l="l" t="t" r="r" b="b"/>
            <a:pathLst>
              <a:path w="2046838" h="1953800">
                <a:moveTo>
                  <a:pt x="0" y="0"/>
                </a:moveTo>
                <a:lnTo>
                  <a:pt x="2046838" y="0"/>
                </a:lnTo>
                <a:lnTo>
                  <a:pt x="2046838" y="1953800"/>
                </a:lnTo>
                <a:lnTo>
                  <a:pt x="0" y="1953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88902" y="292244"/>
            <a:ext cx="668020" cy="591820"/>
            <a:chOff x="0" y="0"/>
            <a:chExt cx="890694" cy="789094"/>
          </a:xfrm>
        </p:grpSpPr>
        <p:grpSp>
          <p:nvGrpSpPr>
            <p:cNvPr id="25" name="Group 25"/>
            <p:cNvGrpSpPr/>
            <p:nvPr/>
          </p:nvGrpSpPr>
          <p:grpSpPr>
            <a:xfrm>
              <a:off x="50800" y="0"/>
              <a:ext cx="789094" cy="789094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C137"/>
              </a:solidFill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0" y="131022"/>
              <a:ext cx="890694" cy="51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1D11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235571" y="962025"/>
            <a:ext cx="981685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6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OUR TEAM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4692" y="6553423"/>
            <a:ext cx="361177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30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JHAIR MIRAVAL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4692" y="7020015"/>
            <a:ext cx="3611773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spc="200">
                <a:solidFill>
                  <a:srgbClr val="2083C4"/>
                </a:solidFill>
                <a:latin typeface="Raleway Bold"/>
                <a:ea typeface="Raleway Bold"/>
                <a:cs typeface="Raleway Bold"/>
                <a:sym typeface="Raleway Bold"/>
              </a:rPr>
              <a:t>CEO / Presidente / Director General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44692" y="7629615"/>
            <a:ext cx="3611773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Comandante en Jefe de la Logística Puertil, y Vigilante Personal del Despacho y Aprobación de Cada Manija.</a:t>
            </a:r>
          </a:p>
          <a:p>
            <a:pPr algn="ctr">
              <a:lnSpc>
                <a:spcPts val="2400"/>
              </a:lnSpc>
            </a:pPr>
            <a:endParaRPr lang="en-US" sz="2000" spc="200">
              <a:solidFill>
                <a:srgbClr val="1D112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2400"/>
              </a:lnSpc>
            </a:pPr>
            <a:endParaRPr lang="en-US" sz="2000" spc="200">
              <a:solidFill>
                <a:srgbClr val="1D11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373640" y="6562948"/>
            <a:ext cx="361177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spc="29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DULIO FLORES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73640" y="7029540"/>
            <a:ext cx="3611773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 spc="220">
                <a:solidFill>
                  <a:srgbClr val="2083C4"/>
                </a:solidFill>
                <a:latin typeface="Raleway Bold"/>
                <a:ea typeface="Raleway Bold"/>
                <a:cs typeface="Raleway Bold"/>
                <a:sym typeface="Raleway Bold"/>
              </a:rPr>
              <a:t>Director de I+D (R&amp;D Director)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73640" y="7629615"/>
            <a:ext cx="361177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Jefe de I+D, Experto en la Calidad Organoléptica de Materiales Forestales de Contrabando y su Ocultación Estratégica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02588" y="6562948"/>
            <a:ext cx="361177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spc="29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WILLIAM CANAZA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02588" y="7029540"/>
            <a:ext cx="361177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 spc="230">
                <a:solidFill>
                  <a:srgbClr val="2083C4"/>
                </a:solidFill>
                <a:latin typeface="Raleway Bold"/>
                <a:ea typeface="Raleway Bold"/>
                <a:cs typeface="Raleway Bold"/>
                <a:sym typeface="Raleway Bold"/>
              </a:rPr>
              <a:t>Vendedor de Puerta a Puerta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02588" y="7648665"/>
            <a:ext cx="3611773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Representante General de la Prospección Invasiva de Mercados, y Ejecutivo Senior de la Técnica de Persuasión a Través del Umbral Domésticoxd.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231536" y="6553423"/>
            <a:ext cx="361177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spc="250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ABRAHAM MENDOZA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231536" y="7029540"/>
            <a:ext cx="361177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 spc="230">
                <a:solidFill>
                  <a:srgbClr val="2083C4"/>
                </a:solidFill>
                <a:latin typeface="Raleway Bold"/>
                <a:ea typeface="Raleway Bold"/>
                <a:cs typeface="Raleway Bold"/>
                <a:sym typeface="Raleway Bold"/>
              </a:rPr>
              <a:t>Comunicación/RR.PP.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00178" y="7467690"/>
            <a:ext cx="361177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0">
                <a:solidFill>
                  <a:srgbClr val="1D1127"/>
                </a:solidFill>
                <a:latin typeface="Raleway"/>
                <a:ea typeface="Raleway"/>
                <a:cs typeface="Raleway"/>
                <a:sym typeface="Raleway"/>
              </a:rPr>
              <a:t>Vicepresidente de Medios y Mensajes Crípticos, con Competencia Exclusiva en la Gestión de la Retórica y el Uso Estratégico del 'Habla Causa'.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54865" y="-280035"/>
            <a:ext cx="6960870" cy="10999470"/>
            <a:chOff x="0" y="0"/>
            <a:chExt cx="2539344" cy="4012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9344" cy="4012636"/>
            </a:xfrm>
            <a:custGeom>
              <a:avLst/>
              <a:gdLst/>
              <a:ahLst/>
              <a:cxnLst/>
              <a:rect l="l" t="t" r="r" b="b"/>
              <a:pathLst>
                <a:path w="2539344" h="4012636">
                  <a:moveTo>
                    <a:pt x="0" y="0"/>
                  </a:moveTo>
                  <a:lnTo>
                    <a:pt x="2539344" y="0"/>
                  </a:lnTo>
                  <a:lnTo>
                    <a:pt x="2539344" y="4012636"/>
                  </a:lnTo>
                  <a:lnTo>
                    <a:pt x="0" y="4012636"/>
                  </a:lnTo>
                  <a:close/>
                </a:path>
              </a:pathLst>
            </a:custGeom>
            <a:solidFill>
              <a:srgbClr val="BF7762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013149" y="1710924"/>
            <a:ext cx="6865151" cy="6865151"/>
            <a:chOff x="0" y="0"/>
            <a:chExt cx="5615940" cy="5615940"/>
          </a:xfrm>
        </p:grpSpPr>
        <p:sp>
          <p:nvSpPr>
            <p:cNvPr id="5" name="Freeform 5"/>
            <p:cNvSpPr/>
            <p:nvPr/>
          </p:nvSpPr>
          <p:spPr>
            <a:xfrm>
              <a:off x="16510" y="16510"/>
              <a:ext cx="5584190" cy="5584190"/>
            </a:xfrm>
            <a:custGeom>
              <a:avLst/>
              <a:gdLst/>
              <a:ahLst/>
              <a:cxnLst/>
              <a:rect l="l" t="t" r="r" b="b"/>
              <a:pathLst>
                <a:path w="5584190" h="5584190">
                  <a:moveTo>
                    <a:pt x="5584190" y="5584190"/>
                  </a:moveTo>
                  <a:lnTo>
                    <a:pt x="1143000" y="5584190"/>
                  </a:lnTo>
                  <a:cubicBezTo>
                    <a:pt x="511810" y="5584190"/>
                    <a:pt x="0" y="5072380"/>
                    <a:pt x="0" y="4441190"/>
                  </a:cubicBezTo>
                  <a:lnTo>
                    <a:pt x="0" y="0"/>
                  </a:lnTo>
                  <a:lnTo>
                    <a:pt x="4441190" y="0"/>
                  </a:lnTo>
                  <a:cubicBezTo>
                    <a:pt x="5072380" y="0"/>
                    <a:pt x="5584190" y="511810"/>
                    <a:pt x="5584190" y="1143000"/>
                  </a:cubicBezTo>
                  <a:lnTo>
                    <a:pt x="5584190" y="5584190"/>
                  </a:lnTo>
                  <a:close/>
                </a:path>
              </a:pathLst>
            </a:custGeom>
            <a:blipFill>
              <a:blip r:embed="rId2">
                <a:alphaModFix amt="81000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615940" cy="5615940"/>
            </a:xfrm>
            <a:custGeom>
              <a:avLst/>
              <a:gdLst/>
              <a:ahLst/>
              <a:cxnLst/>
              <a:rect l="l" t="t" r="r" b="b"/>
              <a:pathLst>
                <a:path w="5615940" h="5615940">
                  <a:moveTo>
                    <a:pt x="5615940" y="5615940"/>
                  </a:moveTo>
                  <a:lnTo>
                    <a:pt x="1158240" y="5615940"/>
                  </a:lnTo>
                  <a:cubicBezTo>
                    <a:pt x="519430" y="5615940"/>
                    <a:pt x="0" y="5096510"/>
                    <a:pt x="0" y="4457700"/>
                  </a:cubicBezTo>
                  <a:lnTo>
                    <a:pt x="0" y="0"/>
                  </a:lnTo>
                  <a:lnTo>
                    <a:pt x="4457700" y="0"/>
                  </a:lnTo>
                  <a:cubicBezTo>
                    <a:pt x="5096510" y="0"/>
                    <a:pt x="5615940" y="519430"/>
                    <a:pt x="5615940" y="1158240"/>
                  </a:cubicBezTo>
                  <a:lnTo>
                    <a:pt x="5615940" y="5615940"/>
                  </a:lnTo>
                  <a:close/>
                  <a:moveTo>
                    <a:pt x="31750" y="31750"/>
                  </a:moveTo>
                  <a:lnTo>
                    <a:pt x="31750" y="4457700"/>
                  </a:lnTo>
                  <a:cubicBezTo>
                    <a:pt x="31750" y="5078730"/>
                    <a:pt x="537210" y="5585460"/>
                    <a:pt x="1159510" y="5585460"/>
                  </a:cubicBezTo>
                  <a:lnTo>
                    <a:pt x="5585460" y="5585460"/>
                  </a:lnTo>
                  <a:lnTo>
                    <a:pt x="5585460" y="1158240"/>
                  </a:lnTo>
                  <a:cubicBezTo>
                    <a:pt x="5585460" y="537210"/>
                    <a:pt x="5080000" y="30480"/>
                    <a:pt x="4457700" y="30480"/>
                  </a:cubicBezTo>
                  <a:lnTo>
                    <a:pt x="31750" y="30480"/>
                  </a:lnTo>
                  <a:lnTo>
                    <a:pt x="31750" y="31750"/>
                  </a:lnTo>
                  <a:close/>
                </a:path>
              </a:pathLst>
            </a:custGeom>
            <a:solidFill>
              <a:srgbClr val="000000">
                <a:alpha val="80784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726326" y="2462378"/>
            <a:ext cx="7653498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999">
                <a:solidFill>
                  <a:srgbClr val="1D1127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6326" y="5795996"/>
            <a:ext cx="765349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spc="139">
                <a:solidFill>
                  <a:srgbClr val="1D1127"/>
                </a:solidFill>
                <a:latin typeface="Raleway Bold"/>
                <a:ea typeface="Raleway Bold"/>
                <a:cs typeface="Raleway Bold"/>
                <a:sym typeface="Raleway Bold"/>
              </a:rPr>
              <a:t>El grupo 5, encargado de </a:t>
            </a:r>
            <a:r>
              <a:rPr lang="en-US" sz="2799" b="1" u="sng" spc="139">
                <a:solidFill>
                  <a:srgbClr val="1D1127"/>
                </a:solidFill>
                <a:latin typeface="Raleway Bold"/>
                <a:ea typeface="Raleway Bold"/>
                <a:cs typeface="Raleway Bold"/>
                <a:sym typeface="Raleway Bold"/>
              </a:rPr>
              <a:t>Redes Neuronales Convolucionales</a:t>
            </a:r>
            <a:r>
              <a:rPr lang="en-US" sz="2799" b="1" spc="139">
                <a:solidFill>
                  <a:srgbClr val="1D1127"/>
                </a:solidFill>
                <a:latin typeface="Raleway Bold"/>
                <a:ea typeface="Raleway Bold"/>
                <a:cs typeface="Raleway Bold"/>
                <a:sym typeface="Raleway Bold"/>
              </a:rPr>
              <a:t> les haya podido explicar a la perfección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Office PowerPoint</Application>
  <PresentationFormat>Personalizado</PresentationFormat>
  <Paragraphs>85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3" baseType="lpstr">
      <vt:lpstr>Raleway</vt:lpstr>
      <vt:lpstr>Bobby Jones Condensed</vt:lpstr>
      <vt:lpstr>IBM Plex Mono Bold</vt:lpstr>
      <vt:lpstr>Poppins</vt:lpstr>
      <vt:lpstr>Arial</vt:lpstr>
      <vt:lpstr>Calibri</vt:lpstr>
      <vt:lpstr>Open Sans</vt:lpstr>
      <vt:lpstr>Raleway Bold</vt:lpstr>
      <vt:lpstr>Bobby Jones</vt:lpstr>
      <vt:lpstr>Libre Franklin</vt:lpstr>
      <vt:lpstr>Libre Franklin Bold</vt:lpstr>
      <vt:lpstr>Noteworthy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Digital Marketing Presentation</dc:title>
  <cp:lastModifiedBy>Omar Flores</cp:lastModifiedBy>
  <cp:revision>2</cp:revision>
  <dcterms:created xsi:type="dcterms:W3CDTF">2006-08-16T00:00:00Z</dcterms:created>
  <dcterms:modified xsi:type="dcterms:W3CDTF">2025-11-11T04:49:15Z</dcterms:modified>
  <dc:identifier>DAG3sQWXcrQ</dc:identifier>
</cp:coreProperties>
</file>